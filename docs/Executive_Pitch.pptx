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2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Hours of warning</c:v>
                </c:pt>
              </c:strCache>
            </c:strRef>
          </c:tx>
          <c:spPr>
            <a:solidFill>
              <a:srgbClr val="1C7293"/>
            </a:solidFill>
            <a:effectLst/>
          </c:spPr>
          <c:invertIfNegative val="0"/>
          <c:dLbls>
            <c:numFmt formatCode="0.00&quot; h&quot;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0A254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This system</c:v>
                  </c:pt>
                  <c:pt idx="1">
                    <c:v>Best conventional
threshold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4.88</c:v>
                </c:pt>
                <c:pt idx="1">
                  <c:v>3.25</c:v>
                </c:pt>
              </c:numCache>
            </c:numRef>
          </c:val>
        </c:ser>
        <c:dLbls>
          <c:numFmt formatCode="0.00&quot; h&quot;" sourceLinked="0"/>
          <c:txPr>
            <a:bodyPr/>
            <a:lstStyle/>
            <a:p>
              <a:pPr>
                <a:defRPr b="1" i="0" strike="noStrike" sz="1400" u="none">
                  <a:solidFill>
                    <a:srgbClr val="0A254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2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7252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"/>
          <c:min val="0"/>
        </c:scaling>
        <c:delete val="0"/>
        <c:axPos val="l"/>
        <c:majorGridlines>
          <c:spPr>
            <a:ln w="12700" cap="flat">
              <a:solidFill>
                <a:srgbClr val="E1E8EC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5A6B77"/>
                    </a:solidFill>
                    <a:latin typeface="Arial"/>
                  </a:defRPr>
                </a:pPr>
                <a:r>
                  <a:rPr sz="1000" b="0" i="0" u="none" strike="noStrike">
                    <a:solidFill>
                      <a:srgbClr val="5A6B77"/>
                    </a:solidFill>
                    <a:latin typeface="Arial"/>
                  </a:rPr>
                  <a:t>hours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6B77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SGD per year</c:v>
                </c:pt>
              </c:strCache>
            </c:strRef>
          </c:tx>
          <c:spPr>
            <a:solidFill>
              <a:srgbClr val="3FA7B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0A254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3FA7B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C7293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0A2540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3FA7B8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Avoided
downtime</c:v>
                  </c:pt>
                  <c:pt idx="1">
                    <c:v>Cooling
energy</c:v>
                  </c:pt>
                  <c:pt idx="2">
                    <c:v>Avoided callout
premium</c:v>
                  </c:pt>
                  <c:pt idx="3">
                    <c:v>Reduced manual
monitoring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12000</c:v>
                </c:pt>
                <c:pt idx="1">
                  <c:v>6000</c:v>
                </c:pt>
                <c:pt idx="2">
                  <c:v>4000</c:v>
                </c:pt>
                <c:pt idx="3">
                  <c:v>2000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300" u="none">
                  <a:solidFill>
                    <a:srgbClr val="0A254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9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7252E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4000"/>
          <c:min val="0"/>
        </c:scaling>
        <c:delete val="0"/>
        <c:axPos val="l"/>
        <c:majorGridlines>
          <c:spPr>
            <a:ln w="12700" cap="flat">
              <a:solidFill>
                <a:srgbClr val="E1E8E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6B77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200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Frame: this is a maintenance decision-support system, not a thermostat. The pitch covers business value, security and ethical safety.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core problem is not detection speed alone — it is that a temperature reading cannot tell you what to do about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twins: racks, cooling, occupancy/workload, energy. Coordinated centrally because they share one thermal zone.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Lead this argument. It is categorical — no threshold at any alarm level can identify a mechanism.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2.1x is the defensible floor. Earlier baselines fire later and would give a larger multiple; we chose the strongest available comparison.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first to name the weak assumption. 4,000 SGD avoided failure is 58% of benefit and rests on a failure interval this project cannot measure.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sensitivity case changes the recommendation rather than decorating it: fund Phase 2 as validation, commit capital at Phase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Security was implemented and then tested by attempting the attacks it should prevent. Three real defects surfaced in the process and were fixed.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strongest ethics claim is not that there are no weaknesses — it is that we measured one and mitigated it at a stated cost.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Phase 2 exists to test the assumption most likely to fail: that the model survives real sensor noise.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ask, framed honestly: Phase 2 buys information, not return. The return case begins at Phase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1554480"/>
            <a:ext cx="5120640" cy="5120640"/>
          </a:xfrm>
          <a:prstGeom prst="ellipse">
            <a:avLst/>
          </a:prstGeom>
          <a:solidFill>
            <a:srgbClr val="1C7293">
              <a:alpha val="22000"/>
            </a:srgbClr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41280" y="3931920"/>
            <a:ext cx="3108960" cy="3108960"/>
          </a:xfrm>
          <a:prstGeom prst="ellipse">
            <a:avLst/>
          </a:prstGeom>
          <a:solidFill>
            <a:srgbClr val="3FA7B8">
              <a:alpha val="15000"/>
            </a:srgbClr>
          </a:solidFill>
          <a:ln w="12700">
            <a:solidFill>
              <a:srgbClr val="3FA7B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1600200"/>
            <a:ext cx="7863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50" kern="0" dirty="0">
                <a:solidFill>
                  <a:srgbClr val="3FA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COOLING MAINTENANCE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594360" y="2011680"/>
            <a:ext cx="7680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4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Knowing which part</a:t>
            </a:r>
            <a:endParaRPr lang="en-US" sz="4000" dirty="0"/>
          </a:p>
          <a:p>
            <a:pPr indent="0" marL="0">
              <a:lnSpc>
                <a:spcPts val="44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 failing, four hours early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594360" y="3886200"/>
            <a:ext cx="7223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C9D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digital twin for the server room that predicts CRAC equipment failure, identifies the mechanism, and recommends the right intervention while the fault is still developing.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594360" y="502920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3FA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Investment case  ·  Security  ·  Ethical safety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1148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A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By the time the room is hot, it is already late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94360" y="1078992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cooling fault shows in equipment behaviour long before it shows in temperature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94360" y="1783080"/>
            <a:ext cx="3429000" cy="2880360"/>
          </a:xfrm>
          <a:prstGeom prst="roundRect">
            <a:avLst>
              <a:gd name="adj" fmla="val 2857"/>
            </a:avLst>
          </a:prstGeom>
          <a:solidFill>
            <a:srgbClr val="F2F6F8"/>
          </a:solidFill>
          <a:ln w="12700">
            <a:solidFill>
              <a:srgbClr val="F2F6F8"/>
            </a:solidFill>
            <a:prstDash val="solid"/>
          </a:ln>
          <a:effectLst>
            <a:outerShdw sx="100000" sy="100000" kx="0" ky="0" algn="bl" rotWithShape="0" blurRad="50800" dist="12700" dir="5400000">
              <a:srgbClr val="9AA9B3">
                <a:alpha val="2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50392" y="2048256"/>
            <a:ext cx="237744" cy="23774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16152" y="2011680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Hours before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50392" y="2487168"/>
            <a:ext cx="29260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1725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Motor current rises.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1725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pressure climbs.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1725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Vibration increases.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50392" y="40690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A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Invisible to a thermostat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105656" y="3127248"/>
            <a:ext cx="256032" cy="182880"/>
          </a:xfrm>
          <a:prstGeom prst="rightArrow">
            <a:avLst/>
          </a:prstGeom>
          <a:solidFill>
            <a:srgbClr val="B7C4CC"/>
          </a:solidFill>
          <a:ln w="12700">
            <a:solidFill>
              <a:srgbClr val="B7C4C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389120" y="1783080"/>
            <a:ext cx="3429000" cy="2880360"/>
          </a:xfrm>
          <a:prstGeom prst="roundRect">
            <a:avLst>
              <a:gd name="adj" fmla="val 2857"/>
            </a:avLst>
          </a:prstGeom>
          <a:solidFill>
            <a:srgbClr val="F2F6F8"/>
          </a:solidFill>
          <a:ln w="12700">
            <a:solidFill>
              <a:srgbClr val="F2F6F8"/>
            </a:solidFill>
            <a:prstDash val="solid"/>
          </a:ln>
          <a:effectLst>
            <a:outerShdw sx="100000" sy="100000" kx="0" ky="0" algn="bl" rotWithShape="0" blurRad="50800" dist="12700" dir="5400000">
              <a:srgbClr val="9AA9B3">
                <a:alpha val="2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45152" y="2048256"/>
            <a:ext cx="237744" cy="237744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10912" y="2011680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Minutes before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645152" y="2487168"/>
            <a:ext cx="29260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1725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Airflow drops.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1725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 air warms.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1725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Rack inlets creep up.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645152" y="40690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A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 below alarm threshold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7900416" y="3127248"/>
            <a:ext cx="256032" cy="182880"/>
          </a:xfrm>
          <a:prstGeom prst="rightArrow">
            <a:avLst/>
          </a:prstGeom>
          <a:solidFill>
            <a:srgbClr val="B7C4CC"/>
          </a:solidFill>
          <a:ln w="12700">
            <a:solidFill>
              <a:srgbClr val="B7C4C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183880" y="1783080"/>
            <a:ext cx="3429000" cy="2880360"/>
          </a:xfrm>
          <a:prstGeom prst="roundRect">
            <a:avLst>
              <a:gd name="adj" fmla="val 2857"/>
            </a:avLst>
          </a:prstGeom>
          <a:solidFill>
            <a:srgbClr val="F2F6F8"/>
          </a:solidFill>
          <a:ln w="12700">
            <a:solidFill>
              <a:srgbClr val="F2F6F8"/>
            </a:solidFill>
            <a:prstDash val="solid"/>
          </a:ln>
          <a:effectLst>
            <a:outerShdw sx="100000" sy="100000" kx="0" ky="0" algn="bl" rotWithShape="0" blurRad="50800" dist="12700" dir="5400000">
              <a:srgbClr val="9AA9B3">
                <a:alpha val="2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439912" y="2048256"/>
            <a:ext cx="237744" cy="237744"/>
          </a:xfrm>
          <a:prstGeom prst="ellipse">
            <a:avLst/>
          </a:prstGeom>
          <a:solidFill>
            <a:srgbClr val="B3261E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805672" y="2011680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alarm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8439912" y="2487168"/>
            <a:ext cx="29260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1725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 crossed.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1725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Servers throttling.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1725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callout.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8439912" y="40690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A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 begins here today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94360" y="4983480"/>
            <a:ext cx="10972800" cy="1051560"/>
          </a:xfrm>
          <a:prstGeom prst="roundRect">
            <a:avLst>
              <a:gd name="adj" fmla="val 7826"/>
            </a:avLst>
          </a:prstGeom>
          <a:solidFill>
            <a:srgbClr val="0A2540"/>
          </a:solidFill>
          <a:ln w="12700">
            <a:solidFill>
              <a:srgbClr val="0A2540"/>
            </a:solidFill>
            <a:prstDash val="solid"/>
          </a:ln>
          <a:effectLst>
            <a:outerShdw sx="100000" sy="100000" kx="0" ky="0" algn="bl" rotWithShape="0" blurRad="50800" dist="12700" dir="5400000">
              <a:srgbClr val="9AA9B3">
                <a:alpha val="2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914400" y="5148072"/>
            <a:ext cx="10332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Raising cooling output is not always the right answer. Temperature rises from workload, from poor airflow, or from equipment degradation — and each needs a different response.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1148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A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system does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94360" y="1078992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coordinated twins over the existing telemetry link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94360" y="1874520"/>
            <a:ext cx="5257800" cy="1325880"/>
          </a:xfrm>
          <a:prstGeom prst="roundRect">
            <a:avLst>
              <a:gd name="adj" fmla="val 6207"/>
            </a:avLst>
          </a:prstGeom>
          <a:solidFill>
            <a:srgbClr val="F2F6F8"/>
          </a:solidFill>
          <a:ln w="12700">
            <a:solidFill>
              <a:srgbClr val="F2F6F8"/>
            </a:solidFill>
            <a:prstDash val="solid"/>
          </a:ln>
          <a:effectLst>
            <a:outerShdw sx="100000" sy="100000" kx="0" ky="0" algn="bl" rotWithShape="0" blurRad="50800" dist="12700" dir="5400000">
              <a:srgbClr val="9AA9B3">
                <a:alpha val="2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130552"/>
            <a:ext cx="237744" cy="23774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52728" y="2084832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68680" y="2496312"/>
            <a:ext cx="4754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25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Equipment failure up to four hours ahead, with a time-to-failure countdown.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217920" y="1874520"/>
            <a:ext cx="5257800" cy="1325880"/>
          </a:xfrm>
          <a:prstGeom prst="roundRect">
            <a:avLst>
              <a:gd name="adj" fmla="val 6207"/>
            </a:avLst>
          </a:prstGeom>
          <a:solidFill>
            <a:srgbClr val="F2F6F8"/>
          </a:solidFill>
          <a:ln w="12700">
            <a:solidFill>
              <a:srgbClr val="F2F6F8"/>
            </a:solidFill>
            <a:prstDash val="solid"/>
          </a:ln>
          <a:effectLst>
            <a:outerShdw sx="100000" sy="100000" kx="0" ky="0" algn="bl" rotWithShape="0" blurRad="50800" dist="12700" dir="5400000">
              <a:srgbClr val="9AA9B3">
                <a:alpha val="2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92240" y="2130552"/>
            <a:ext cx="237744" cy="23774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76288" y="2084832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Identifies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492240" y="2496312"/>
            <a:ext cx="4754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25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mechanism is failing — worn fan bearing or clogged filter.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94360" y="3611880"/>
            <a:ext cx="5257800" cy="1325880"/>
          </a:xfrm>
          <a:prstGeom prst="roundRect">
            <a:avLst>
              <a:gd name="adj" fmla="val 6207"/>
            </a:avLst>
          </a:prstGeom>
          <a:solidFill>
            <a:srgbClr val="F2F6F8"/>
          </a:solidFill>
          <a:ln w="12700">
            <a:solidFill>
              <a:srgbClr val="F2F6F8"/>
            </a:solidFill>
            <a:prstDash val="solid"/>
          </a:ln>
          <a:effectLst>
            <a:outerShdw sx="100000" sy="100000" kx="0" ky="0" algn="bl" rotWithShape="0" blurRad="50800" dist="12700" dir="5400000">
              <a:srgbClr val="9AA9B3">
                <a:alpha val="2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68680" y="3867912"/>
            <a:ext cx="237744" cy="23774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252728" y="3822192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Explains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68680" y="4233672"/>
            <a:ext cx="4754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25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sensor evidence behind every warning, and which model raised it.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217920" y="3611880"/>
            <a:ext cx="5257800" cy="1325880"/>
          </a:xfrm>
          <a:prstGeom prst="roundRect">
            <a:avLst>
              <a:gd name="adj" fmla="val 6207"/>
            </a:avLst>
          </a:prstGeom>
          <a:solidFill>
            <a:srgbClr val="F2F6F8"/>
          </a:solidFill>
          <a:ln w="12700">
            <a:solidFill>
              <a:srgbClr val="F2F6F8"/>
            </a:solidFill>
            <a:prstDash val="solid"/>
          </a:ln>
          <a:effectLst>
            <a:outerShdw sx="100000" sy="100000" kx="0" ky="0" algn="bl" rotWithShape="0" blurRad="50800" dist="12700" dir="5400000">
              <a:srgbClr val="9AA9B3">
                <a:alpha val="2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492240" y="3867912"/>
            <a:ext cx="237744" cy="23774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876288" y="3822192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Recommends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492240" y="4233672"/>
            <a:ext cx="4754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25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proportionate action, with its estimated cost. Never acts alone.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594360" y="54864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A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 approval is required for every action. Nothing in the system actuates equipment.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1148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A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threshold tells you it is hot. It cannot tell you why.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94360" y="1078992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difference no alarm setting can close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94360" y="1783080"/>
            <a:ext cx="5394960" cy="3200400"/>
          </a:xfrm>
          <a:prstGeom prst="roundRect">
            <a:avLst>
              <a:gd name="adj" fmla="val 2571"/>
            </a:avLst>
          </a:prstGeom>
          <a:solidFill>
            <a:srgbClr val="F2F6F8"/>
          </a:solidFill>
          <a:ln w="12700">
            <a:solidFill>
              <a:srgbClr val="F2F6F8"/>
            </a:solidFill>
            <a:prstDash val="solid"/>
          </a:ln>
          <a:effectLst>
            <a:outerShdw sx="100000" sy="100000" kx="0" ky="0" algn="bl" rotWithShape="0" blurRad="50800" dist="12700" dir="5400000">
              <a:srgbClr val="9AA9B3">
                <a:alpha val="2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201168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A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Temperature threshold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14400" y="245059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725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"CRAC-01 is running hot."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2926080"/>
            <a:ext cx="4754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725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undifferentiated callout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725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Technician diagnoses on arrival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725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 guess closes the ticket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263640" y="1783080"/>
            <a:ext cx="5303520" cy="3200400"/>
          </a:xfrm>
          <a:prstGeom prst="roundRect">
            <a:avLst>
              <a:gd name="adj" fmla="val 2571"/>
            </a:avLst>
          </a:prstGeom>
          <a:solidFill>
            <a:srgbClr val="0A2540"/>
          </a:solidFill>
          <a:ln w="12700">
            <a:solidFill>
              <a:srgbClr val="0A2540"/>
            </a:solidFill>
            <a:prstDash val="solid"/>
          </a:ln>
          <a:effectLst>
            <a:outerShdw sx="100000" sy="100000" kx="0" ky="0" algn="bl" rotWithShape="0" blurRad="50800" dist="12700" dir="5400000">
              <a:srgbClr val="9AA9B3">
                <a:alpha val="2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583680" y="201168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FA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system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583680" y="2450592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"Filter clogging. Replace filter."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583680" y="2926080"/>
            <a:ext cx="4663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D6E6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Names the failing mechanism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D6E6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 part, different job, different urgency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D6E6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Mechanism named from which sensor limits tripped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94360" y="5212080"/>
            <a:ext cx="10972800" cy="1051560"/>
          </a:xfrm>
          <a:prstGeom prst="roundRect">
            <a:avLst>
              <a:gd name="adj" fmla="val 7826"/>
            </a:avLst>
          </a:prstGeom>
          <a:solidFill>
            <a:srgbClr val="FDF1E4"/>
          </a:solidFill>
          <a:ln w="12700">
            <a:solidFill>
              <a:srgbClr val="FDF1E4"/>
            </a:solidFill>
            <a:prstDash val="solid"/>
          </a:ln>
          <a:effectLst>
            <a:outerShdw sx="100000" sy="100000" kx="0" ky="0" algn="bl" rotWithShape="0" blurRad="50800" dist="12700" dir="5400000">
              <a:srgbClr val="9AA9B3">
                <a:alpha val="2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914400" y="534924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7A3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this wrong is worse than not knowing. A technician replaces a clean filter, closes the ticket, and the bearing keeps degrading — with the alarm already acknowledged and the lead time spent.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1148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A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 it sees the fault sooner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94360" y="1078992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warning before failure, across 31 failing test runs</a:t>
            </a:r>
            <a:endParaRPr lang="en-US" sz="15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94360" y="1783080"/>
          <a:ext cx="649224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452360" y="1783080"/>
            <a:ext cx="4114800" cy="1463040"/>
          </a:xfrm>
          <a:prstGeom prst="roundRect">
            <a:avLst>
              <a:gd name="adj" fmla="val 5625"/>
            </a:avLst>
          </a:prstGeom>
          <a:solidFill>
            <a:srgbClr val="0A2540"/>
          </a:solidFill>
          <a:ln w="12700">
            <a:solidFill>
              <a:srgbClr val="0A2540"/>
            </a:solidFill>
            <a:prstDash val="solid"/>
          </a:ln>
          <a:effectLst>
            <a:outerShdw sx="100000" sy="100000" kx="0" ky="0" algn="bl" rotWithShape="0" blurRad="50800" dist="12700" dir="5400000">
              <a:srgbClr val="9AA9B3">
                <a:alpha val="2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680960" y="192024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1.5×</a:t>
            </a:r>
            <a:endParaRPr lang="en-US" sz="4600" dirty="0"/>
          </a:p>
        </p:txBody>
      </p:sp>
      <p:sp>
        <p:nvSpPr>
          <p:cNvPr id="7" name="Text 4"/>
          <p:cNvSpPr/>
          <p:nvPr/>
        </p:nvSpPr>
        <p:spPr>
          <a:xfrm>
            <a:off x="7680960" y="267004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FA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warning time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7452360" y="3566160"/>
            <a:ext cx="4114800" cy="1783080"/>
          </a:xfrm>
          <a:prstGeom prst="roundRect">
            <a:avLst>
              <a:gd name="adj" fmla="val 4615"/>
            </a:avLst>
          </a:prstGeom>
          <a:solidFill>
            <a:srgbClr val="F2F6F8"/>
          </a:solidFill>
          <a:ln w="12700">
            <a:solidFill>
              <a:srgbClr val="F2F6F8"/>
            </a:solidFill>
            <a:prstDash val="solid"/>
          </a:ln>
          <a:effectLst>
            <a:outerShdw sx="100000" sy="100000" kx="0" ky="0" algn="bl" rotWithShape="0" blurRad="50800" dist="12700" dir="5400000">
              <a:srgbClr val="9AA9B3">
                <a:alpha val="22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7680960" y="376732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conservatively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680960" y="4114800"/>
            <a:ext cx="3703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725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baseline is computed from the same test runs using the same lead-time function — not a fixed number chosen to flatter the result. Both detectors caught all 31 failing runs.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594360" y="559612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Nearly five hours of warning — enough to schedule maintenance rather than react to an outage.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1148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A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value comes from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94360" y="1078992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Illustrative annual benefit per monitored CRAC unit</a:t>
            </a:r>
            <a:endParaRPr lang="en-US" sz="15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94360" y="1783080"/>
          <a:ext cx="6675120" cy="3520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543800" y="1783080"/>
            <a:ext cx="4023360" cy="3520440"/>
          </a:xfrm>
          <a:prstGeom prst="roundRect">
            <a:avLst>
              <a:gd name="adj" fmla="val 2338"/>
            </a:avLst>
          </a:prstGeom>
          <a:solidFill>
            <a:srgbClr val="F2F6F8"/>
          </a:solidFill>
          <a:ln w="12700">
            <a:solidFill>
              <a:srgbClr val="F2F6F8"/>
            </a:solidFill>
            <a:prstDash val="solid"/>
          </a:ln>
          <a:effectLst>
            <a:outerShdw sx="100000" sy="100000" kx="0" ky="0" algn="bl" rotWithShape="0" blurRad="50800" dist="12700" dir="5400000">
              <a:srgbClr val="9AA9B3">
                <a:alpha val="2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772400" y="1938528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SGD 24,000</a:t>
            </a:r>
            <a:endParaRPr lang="en-US" sz="3000" dirty="0"/>
          </a:p>
        </p:txBody>
      </p:sp>
      <p:sp>
        <p:nvSpPr>
          <p:cNvPr id="7" name="Text 4"/>
          <p:cNvSpPr/>
          <p:nvPr/>
        </p:nvSpPr>
        <p:spPr>
          <a:xfrm>
            <a:off x="7772400" y="246888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CRAC, per year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7772400" y="3035808"/>
            <a:ext cx="841248" cy="237744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772400" y="3035808"/>
            <a:ext cx="8412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7772400" y="3346704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25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performance is measured: 0.993 AUC, 0.925 F1, 0.08 false alarms per healthy run.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7772400" y="4206240"/>
            <a:ext cx="841248" cy="237744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772400" y="4206240"/>
            <a:ext cx="8412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ASSUMED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7772400" y="4517136"/>
            <a:ext cx="3611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25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figure on this slide is a planning assumption. Avoided downtime is half the total and is the largest single assumption in the case.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594360" y="55321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A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Avoided cost depends on how long a fault would otherwise run undetected — an interval this project cannot measure. The pilot phase measures it directly and replaces this assumption.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1148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A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Return on investment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94360" y="1078992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case, and the same case with every benefit halved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94360" y="1783080"/>
            <a:ext cx="6858000" cy="91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3246120" y="18288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case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74920" y="182880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Benefits halved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94360" y="2194560"/>
            <a:ext cx="6601968" cy="868680"/>
          </a:xfrm>
          <a:prstGeom prst="roundRect">
            <a:avLst>
              <a:gd name="adj" fmla="val 9474"/>
            </a:avLst>
          </a:prstGeom>
          <a:solidFill>
            <a:srgbClr val="F2F6F8"/>
          </a:solidFill>
          <a:ln w="12700">
            <a:solidFill>
              <a:srgbClr val="F2F6F8"/>
            </a:solidFill>
            <a:prstDash val="solid"/>
          </a:ln>
          <a:effectLst>
            <a:outerShdw sx="100000" sy="100000" kx="0" ky="0" algn="bl" rotWithShape="0" blurRad="50800" dist="12700" dir="5400000">
              <a:srgbClr val="9AA9B3">
                <a:alpha val="2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68680" y="245059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Payback on capital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3246120" y="237744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7.6 months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5074920" y="237744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16.8 months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94360" y="3218688"/>
            <a:ext cx="6601968" cy="868680"/>
          </a:xfrm>
          <a:prstGeom prst="roundRect">
            <a:avLst>
              <a:gd name="adj" fmla="val 9474"/>
            </a:avLst>
          </a:prstGeom>
          <a:solidFill>
            <a:srgbClr val="F2F6F8"/>
          </a:solidFill>
          <a:ln w="12700">
            <a:solidFill>
              <a:srgbClr val="F2F6F8"/>
            </a:solidFill>
            <a:prstDash val="solid"/>
          </a:ln>
          <a:effectLst>
            <a:outerShdw sx="100000" sy="100000" kx="0" ky="0" algn="bl" rotWithShape="0" blurRad="50800" dist="12700" dir="5400000">
              <a:srgbClr val="9AA9B3">
                <a:alpha val="2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68680" y="34747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1 return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3246120" y="3401568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50 %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5074920" y="3401568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not recover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94360" y="4242816"/>
            <a:ext cx="6601968" cy="868680"/>
          </a:xfrm>
          <a:prstGeom prst="roundRect">
            <a:avLst>
              <a:gd name="adj" fmla="val 9474"/>
            </a:avLst>
          </a:prstGeom>
          <a:solidFill>
            <a:srgbClr val="F2F6F8"/>
          </a:solidFill>
          <a:ln w="12700">
            <a:solidFill>
              <a:srgbClr val="F2F6F8"/>
            </a:solidFill>
            <a:prstDash val="solid"/>
          </a:ln>
          <a:effectLst>
            <a:outerShdw sx="100000" sy="100000" kx="0" ky="0" algn="bl" rotWithShape="0" blurRad="50800" dist="12700" dir="5400000">
              <a:srgbClr val="9AA9B3">
                <a:alpha val="2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68680" y="449884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Three-year return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3246120" y="4425696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260 %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5074920" y="4425696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80 %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7726680" y="1783080"/>
            <a:ext cx="3840480" cy="1645920"/>
          </a:xfrm>
          <a:prstGeom prst="roundRect">
            <a:avLst>
              <a:gd name="adj" fmla="val 5000"/>
            </a:avLst>
          </a:prstGeom>
          <a:solidFill>
            <a:srgbClr val="FDF1E4"/>
          </a:solidFill>
          <a:ln w="12700">
            <a:solidFill>
              <a:srgbClr val="FDF1E4"/>
            </a:solidFill>
            <a:prstDash val="solid"/>
          </a:ln>
          <a:effectLst>
            <a:outerShdw sx="100000" sy="100000" kx="0" ky="0" algn="bl" rotWithShape="0" blurRad="50800" dist="12700" dir="5400000">
              <a:srgbClr val="9AA9B3">
                <a:alpha val="2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955280" y="1938528"/>
            <a:ext cx="3429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A3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year is not guaranteed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7955280" y="2395728"/>
            <a:ext cx="3429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3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benefits are half what we assume, year 1 does not recover its own cost and payback stretches to 16.8 months.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726680" y="3657600"/>
            <a:ext cx="3840480" cy="1691640"/>
          </a:xfrm>
          <a:prstGeom prst="roundRect">
            <a:avLst>
              <a:gd name="adj" fmla="val 4865"/>
            </a:avLst>
          </a:prstGeom>
          <a:solidFill>
            <a:srgbClr val="0A2540"/>
          </a:solidFill>
          <a:ln w="12700">
            <a:solidFill>
              <a:srgbClr val="0A2540"/>
            </a:solidFill>
            <a:prstDash val="solid"/>
          </a:ln>
          <a:effectLst>
            <a:outerShdw sx="100000" sy="100000" kx="0" ky="0" algn="bl" rotWithShape="0" blurRad="50800" dist="12700" dir="5400000">
              <a:srgbClr val="9AA9B3">
                <a:alpha val="2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7955280" y="3822192"/>
            <a:ext cx="3429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A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case still holds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7955280" y="4169664"/>
            <a:ext cx="3429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E6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three years the halved case still returns 80%. Integration cost is one-off, so each additional unit is far cheaper than the first.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594360" y="559612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case: 7.6 months to recover capital, 50% first-year return. The pilot exists to test the assumption this rests on.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1148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A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Security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94360" y="1078992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system that advises engineers must protect the integrity of its advice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94360" y="1828800"/>
            <a:ext cx="6949440" cy="868680"/>
          </a:xfrm>
          <a:prstGeom prst="roundRect">
            <a:avLst>
              <a:gd name="adj" fmla="val 9474"/>
            </a:avLst>
          </a:prstGeom>
          <a:solidFill>
            <a:srgbClr val="F2F6F8"/>
          </a:solidFill>
          <a:ln w="12700">
            <a:solidFill>
              <a:srgbClr val="F2F6F8"/>
            </a:solidFill>
            <a:prstDash val="solid"/>
          </a:ln>
          <a:effectLst>
            <a:outerShdw sx="100000" sy="100000" kx="0" ky="0" algn="bl" rotWithShape="0" blurRad="50800" dist="12700" dir="5400000">
              <a:srgbClr val="9AA9B3">
                <a:alpha val="2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50392" y="2103120"/>
            <a:ext cx="237744" cy="237744"/>
          </a:xfrm>
          <a:prstGeom prst="ellipse">
            <a:avLst/>
          </a:prstGeom>
          <a:solidFill>
            <a:srgbClr val="2E7D52"/>
          </a:solidFill>
          <a:ln w="12700">
            <a:solidFill>
              <a:srgbClr val="2E7D5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34440" y="1929384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Authenticated clients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1234440" y="2231136"/>
            <a:ext cx="6035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725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Per-service credentials. Anonymous connections refused.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94360" y="2852928"/>
            <a:ext cx="6949440" cy="868680"/>
          </a:xfrm>
          <a:prstGeom prst="roundRect">
            <a:avLst>
              <a:gd name="adj" fmla="val 9474"/>
            </a:avLst>
          </a:prstGeom>
          <a:solidFill>
            <a:srgbClr val="F2F6F8"/>
          </a:solidFill>
          <a:ln w="12700">
            <a:solidFill>
              <a:srgbClr val="F2F6F8"/>
            </a:solidFill>
            <a:prstDash val="solid"/>
          </a:ln>
          <a:effectLst>
            <a:outerShdw sx="100000" sy="100000" kx="0" ky="0" algn="bl" rotWithShape="0" blurRad="50800" dist="12700" dir="5400000">
              <a:srgbClr val="9AA9B3">
                <a:alpha val="2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50392" y="3127248"/>
            <a:ext cx="237744" cy="237744"/>
          </a:xfrm>
          <a:prstGeom prst="ellipse">
            <a:avLst/>
          </a:prstGeom>
          <a:solidFill>
            <a:srgbClr val="2E7D52"/>
          </a:solidFill>
          <a:ln w="12700">
            <a:solidFill>
              <a:srgbClr val="2E7D5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234440" y="295351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Least privilege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1234440" y="3255264"/>
            <a:ext cx="6035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725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permissions per identity. One identity only may publish a recommendation.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94360" y="3877056"/>
            <a:ext cx="6949440" cy="868680"/>
          </a:xfrm>
          <a:prstGeom prst="roundRect">
            <a:avLst>
              <a:gd name="adj" fmla="val 9474"/>
            </a:avLst>
          </a:prstGeom>
          <a:solidFill>
            <a:srgbClr val="F2F6F8"/>
          </a:solidFill>
          <a:ln w="12700">
            <a:solidFill>
              <a:srgbClr val="F2F6F8"/>
            </a:solidFill>
            <a:prstDash val="solid"/>
          </a:ln>
          <a:effectLst>
            <a:outerShdw sx="100000" sy="100000" kx="0" ky="0" algn="bl" rotWithShape="0" blurRad="50800" dist="12700" dir="5400000">
              <a:srgbClr val="9AA9B3">
                <a:alpha val="2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50392" y="4151376"/>
            <a:ext cx="237744" cy="237744"/>
          </a:xfrm>
          <a:prstGeom prst="ellipse">
            <a:avLst/>
          </a:prstGeom>
          <a:solidFill>
            <a:srgbClr val="2E7D52"/>
          </a:solidFill>
          <a:ln w="12700">
            <a:solidFill>
              <a:srgbClr val="2E7D5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234440" y="397764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Encrypted transport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1234440" y="4279392"/>
            <a:ext cx="6035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725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TLS for all broker connections in deployment.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94360" y="4901184"/>
            <a:ext cx="6949440" cy="868680"/>
          </a:xfrm>
          <a:prstGeom prst="roundRect">
            <a:avLst>
              <a:gd name="adj" fmla="val 9474"/>
            </a:avLst>
          </a:prstGeom>
          <a:solidFill>
            <a:srgbClr val="F2F6F8"/>
          </a:solidFill>
          <a:ln w="12700">
            <a:solidFill>
              <a:srgbClr val="F2F6F8"/>
            </a:solidFill>
            <a:prstDash val="solid"/>
          </a:ln>
          <a:effectLst>
            <a:outerShdw sx="100000" sy="100000" kx="0" ky="0" algn="bl" rotWithShape="0" blurRad="50800" dist="12700" dir="5400000">
              <a:srgbClr val="9AA9B3">
                <a:alpha val="2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50392" y="5175504"/>
            <a:ext cx="237744" cy="237744"/>
          </a:xfrm>
          <a:prstGeom prst="ellipse">
            <a:avLst/>
          </a:prstGeom>
          <a:solidFill>
            <a:srgbClr val="2E7D52"/>
          </a:solidFill>
          <a:ln w="12700">
            <a:solidFill>
              <a:srgbClr val="2E7D5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234440" y="500176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Liveness detection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1234440" y="5303520"/>
            <a:ext cx="6035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725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twin publishes a retained offline marker if it drops. Implemented and verified.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7909560" y="1828800"/>
            <a:ext cx="3657600" cy="4059936"/>
          </a:xfrm>
          <a:prstGeom prst="roundRect">
            <a:avLst>
              <a:gd name="adj" fmla="val 2250"/>
            </a:avLst>
          </a:prstGeom>
          <a:solidFill>
            <a:srgbClr val="0A2540"/>
          </a:solidFill>
          <a:ln w="12700">
            <a:solidFill>
              <a:srgbClr val="0A2540"/>
            </a:solidFill>
            <a:prstDash val="solid"/>
          </a:ln>
          <a:effectLst>
            <a:outerShdw sx="100000" sy="100000" kx="0" ky="0" algn="bl" rotWithShape="0" blurRad="50800" dist="12700" dir="5400000">
              <a:srgbClr val="9AA9B3">
                <a:alpha val="2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8183880" y="2011680"/>
            <a:ext cx="3200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threat that</a:t>
            </a:r>
            <a:endParaRPr lang="en-US" sz="16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matters most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8183880" y="2834640"/>
            <a:ext cx="32004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D6E6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forged maintenance recommendation is a fabricated instruction to an engineer.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D6E6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turns the system into an attack channel against staff — worse than any data loss it could suffer.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D6E6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exactly one identity may write one, and every recommendation is recorded with its source.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1148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A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Ethical safety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94360" y="1078992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limitation we can name, and how we manage it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94360" y="1783080"/>
            <a:ext cx="5486400" cy="2286000"/>
          </a:xfrm>
          <a:prstGeom prst="roundRect">
            <a:avLst>
              <a:gd name="adj" fmla="val 3600"/>
            </a:avLst>
          </a:prstGeom>
          <a:solidFill>
            <a:srgbClr val="FDF1E4"/>
          </a:solidFill>
          <a:ln w="12700">
            <a:solidFill>
              <a:srgbClr val="FDF1E4"/>
            </a:solidFill>
            <a:prstDash val="solid"/>
          </a:ln>
          <a:effectLst>
            <a:outerShdw sx="100000" sy="100000" kx="0" ky="0" algn="bl" rotWithShape="0" blurRad="50800" dist="12700" dir="5400000">
              <a:srgbClr val="9AA9B3">
                <a:alpha val="2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86968" y="1956816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A3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found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86968" y="2331720"/>
            <a:ext cx="4937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25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is trained on two failure mechanisms. Against a third — a refrigerant leak, a failing compressor — it has no basis for recognition. It would stay confident about what it knows and quiet about what it does not.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86968" y="36118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7A3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failure mode is silence, not error.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355080" y="1783080"/>
            <a:ext cx="5212080" cy="2286000"/>
          </a:xfrm>
          <a:prstGeom prst="roundRect">
            <a:avLst>
              <a:gd name="adj" fmla="val 3600"/>
            </a:avLst>
          </a:prstGeom>
          <a:solidFill>
            <a:srgbClr val="F2F6F8"/>
          </a:solidFill>
          <a:ln w="12700">
            <a:solidFill>
              <a:srgbClr val="F2F6F8"/>
            </a:solidFill>
            <a:prstDash val="solid"/>
          </a:ln>
          <a:effectLst>
            <a:outerShdw sx="100000" sy="100000" kx="0" ky="0" algn="bl" rotWithShape="0" blurRad="50800" dist="12700" dir="5400000">
              <a:srgbClr val="9AA9B3">
                <a:alpha val="2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647688" y="1956816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did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647688" y="2331720"/>
            <a:ext cx="46634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25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Retain a simpler model on raw sensor values alongside the primary one and escalate when either fires. This buys coverage on unfamiliar faults at the cost of precision on familiar ones — a trade we state rather than hide.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647688" y="361188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7D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it is why autonomy comes last.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94360" y="4343400"/>
            <a:ext cx="3429000" cy="1572768"/>
          </a:xfrm>
          <a:prstGeom prst="roundRect">
            <a:avLst>
              <a:gd name="adj" fmla="val 5233"/>
            </a:avLst>
          </a:prstGeom>
          <a:solidFill>
            <a:srgbClr val="F2F6F8"/>
          </a:solidFill>
          <a:ln w="12700">
            <a:solidFill>
              <a:srgbClr val="F2F6F8"/>
            </a:solidFill>
            <a:prstDash val="solid"/>
          </a:ln>
          <a:effectLst>
            <a:outerShdw sx="100000" sy="100000" kx="0" ky="0" algn="bl" rotWithShape="0" blurRad="50800" dist="12700" dir="5400000">
              <a:srgbClr val="9AA9B3">
                <a:alpha val="2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32104" y="4572000"/>
            <a:ext cx="237744" cy="23774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97864" y="451713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oversight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32104" y="4901184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25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Advisory only. No autonomous control anywhere in the system.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389120" y="4343400"/>
            <a:ext cx="3429000" cy="1572768"/>
          </a:xfrm>
          <a:prstGeom prst="roundRect">
            <a:avLst>
              <a:gd name="adj" fmla="val 5233"/>
            </a:avLst>
          </a:prstGeom>
          <a:solidFill>
            <a:srgbClr val="F2F6F8"/>
          </a:solidFill>
          <a:ln w="12700">
            <a:solidFill>
              <a:srgbClr val="F2F6F8"/>
            </a:solidFill>
            <a:prstDash val="solid"/>
          </a:ln>
          <a:effectLst>
            <a:outerShdw sx="100000" sy="100000" kx="0" ky="0" algn="bl" rotWithShape="0" blurRad="50800" dist="12700" dir="5400000">
              <a:srgbClr val="9AA9B3">
                <a:alpha val="2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626864" y="4572000"/>
            <a:ext cx="237744" cy="23774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992624" y="451713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Transparency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4626864" y="4901184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25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alert carries its sensor evidence, its confidence, and the mechanism.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183880" y="4343400"/>
            <a:ext cx="3429000" cy="1572768"/>
          </a:xfrm>
          <a:prstGeom prst="roundRect">
            <a:avLst>
              <a:gd name="adj" fmla="val 5233"/>
            </a:avLst>
          </a:prstGeom>
          <a:solidFill>
            <a:srgbClr val="F2F6F8"/>
          </a:solidFill>
          <a:ln w="12700">
            <a:solidFill>
              <a:srgbClr val="F2F6F8"/>
            </a:solidFill>
            <a:prstDash val="solid"/>
          </a:ln>
          <a:effectLst>
            <a:outerShdw sx="100000" sy="100000" kx="0" ky="0" algn="bl" rotWithShape="0" blurRad="50800" dist="12700" dir="5400000">
              <a:srgbClr val="9AA9B3">
                <a:alpha val="2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8421624" y="4572000"/>
            <a:ext cx="237744" cy="23774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787384" y="451713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Stated limits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8421624" y="4901184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25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figures come from simulation and are an upper bound, not a forecast.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1148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A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prototype to deployment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94360" y="1078992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phase buys the answer the next one needs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94360" y="1737360"/>
            <a:ext cx="10881360" cy="640080"/>
          </a:xfrm>
          <a:prstGeom prst="roundRect">
            <a:avLst>
              <a:gd name="adj" fmla="val 12857"/>
            </a:avLst>
          </a:prstGeom>
          <a:solidFill>
            <a:srgbClr val="F2F6F8"/>
          </a:solidFill>
          <a:ln w="12700">
            <a:solidFill>
              <a:srgbClr val="F2F6F8"/>
            </a:solidFill>
            <a:prstDash val="solid"/>
          </a:ln>
          <a:effectLst>
            <a:outerShdw sx="100000" sy="100000" kx="0" ky="0" algn="bl" rotWithShape="0" blurRad="50800" dist="12700" dir="5400000">
              <a:srgbClr val="9AA9B3">
                <a:alpha val="2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95528" y="1883664"/>
            <a:ext cx="347472" cy="347472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95528" y="188366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307592" y="191109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Prototype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657600" y="1920240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725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Simulated room, four twins, hardened broker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601200" y="192024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2E7D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94360" y="2496312"/>
            <a:ext cx="10881360" cy="640080"/>
          </a:xfrm>
          <a:prstGeom prst="roundRect">
            <a:avLst>
              <a:gd name="adj" fmla="val 12857"/>
            </a:avLst>
          </a:prstGeom>
          <a:solidFill>
            <a:srgbClr val="F2F6F8"/>
          </a:solidFill>
          <a:ln w="12700">
            <a:solidFill>
              <a:srgbClr val="F2F6F8"/>
            </a:solidFill>
            <a:prstDash val="solid"/>
          </a:ln>
          <a:effectLst>
            <a:outerShdw sx="100000" sy="100000" kx="0" ky="0" algn="bl" rotWithShape="0" blurRad="50800" dist="12700" dir="5400000">
              <a:srgbClr val="9AA9B3">
                <a:alpha val="2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795528" y="2642616"/>
            <a:ext cx="347472" cy="347472"/>
          </a:xfrm>
          <a:prstGeom prst="ellipse">
            <a:avLst/>
          </a:prstGeom>
          <a:solidFill>
            <a:srgbClr val="3FA7B8"/>
          </a:solidFill>
          <a:ln w="12700">
            <a:solidFill>
              <a:srgbClr val="3FA7B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264261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307592" y="267004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pilot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3657600" y="2679192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725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CRAC, physical sensors, shadow mode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9601200" y="2679192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A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started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94360" y="3255264"/>
            <a:ext cx="10881360" cy="640080"/>
          </a:xfrm>
          <a:prstGeom prst="roundRect">
            <a:avLst>
              <a:gd name="adj" fmla="val 12857"/>
            </a:avLst>
          </a:prstGeom>
          <a:solidFill>
            <a:srgbClr val="F2F6F8"/>
          </a:solidFill>
          <a:ln w="12700">
            <a:solidFill>
              <a:srgbClr val="F2F6F8"/>
            </a:solidFill>
            <a:prstDash val="solid"/>
          </a:ln>
          <a:effectLst>
            <a:outerShdw sx="100000" sy="100000" kx="0" ky="0" algn="bl" rotWithShape="0" blurRad="50800" dist="12700" dir="5400000">
              <a:srgbClr val="9AA9B3">
                <a:alpha val="2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795528" y="3401568"/>
            <a:ext cx="347472" cy="347472"/>
          </a:xfrm>
          <a:prstGeom prst="ellipse">
            <a:avLst/>
          </a:prstGeom>
          <a:solidFill>
            <a:srgbClr val="3FA7B8"/>
          </a:solidFill>
          <a:ln w="12700">
            <a:solidFill>
              <a:srgbClr val="3FA7B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95528" y="340156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307592" y="342900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room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3657600" y="3438144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725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CRACs, maintenance-system integration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9601200" y="3438144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A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started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94360" y="4014216"/>
            <a:ext cx="10881360" cy="640080"/>
          </a:xfrm>
          <a:prstGeom prst="roundRect">
            <a:avLst>
              <a:gd name="adj" fmla="val 12857"/>
            </a:avLst>
          </a:prstGeom>
          <a:solidFill>
            <a:srgbClr val="F2F6F8"/>
          </a:solidFill>
          <a:ln w="12700">
            <a:solidFill>
              <a:srgbClr val="F2F6F8"/>
            </a:solidFill>
            <a:prstDash val="solid"/>
          </a:ln>
          <a:effectLst>
            <a:outerShdw sx="100000" sy="100000" kx="0" ky="0" algn="bl" rotWithShape="0" blurRad="50800" dist="12700" dir="5400000">
              <a:srgbClr val="9AA9B3">
                <a:alpha val="2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795528" y="4160520"/>
            <a:ext cx="347472" cy="347472"/>
          </a:xfrm>
          <a:prstGeom prst="ellipse">
            <a:avLst/>
          </a:prstGeom>
          <a:solidFill>
            <a:srgbClr val="0A2540"/>
          </a:solidFill>
          <a:ln w="12700">
            <a:solidFill>
              <a:srgbClr val="0A254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95528" y="41605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307592" y="4187952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Multi-room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3657600" y="4197096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725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rooms, twelve CRACs, federation layer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9601200" y="4197096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A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started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94360" y="4773168"/>
            <a:ext cx="10881360" cy="640080"/>
          </a:xfrm>
          <a:prstGeom prst="roundRect">
            <a:avLst>
              <a:gd name="adj" fmla="val 12857"/>
            </a:avLst>
          </a:prstGeom>
          <a:solidFill>
            <a:srgbClr val="F2F6F8"/>
          </a:solidFill>
          <a:ln w="12700">
            <a:solidFill>
              <a:srgbClr val="F2F6F8"/>
            </a:solidFill>
            <a:prstDash val="solid"/>
          </a:ln>
          <a:effectLst>
            <a:outerShdw sx="100000" sy="100000" kx="0" ky="0" algn="bl" rotWithShape="0" blurRad="50800" dist="12700" dir="5400000">
              <a:srgbClr val="9AA9B3">
                <a:alpha val="2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795528" y="4919472"/>
            <a:ext cx="347472" cy="347472"/>
          </a:xfrm>
          <a:prstGeom prst="ellipse">
            <a:avLst/>
          </a:prstGeom>
          <a:solidFill>
            <a:srgbClr val="0A2540"/>
          </a:solidFill>
          <a:ln w="12700">
            <a:solidFill>
              <a:srgbClr val="0A254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95528" y="4919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1307592" y="4946904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Bounded autonomy</a:t>
            </a:r>
            <a:endParaRPr lang="en-US" sz="1350" dirty="0"/>
          </a:p>
        </p:txBody>
      </p:sp>
      <p:sp>
        <p:nvSpPr>
          <p:cNvPr id="32" name="Text 30"/>
          <p:cNvSpPr/>
          <p:nvPr/>
        </p:nvSpPr>
        <p:spPr>
          <a:xfrm>
            <a:off x="3657600" y="4956048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725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Setpoint ±1 °C and workload shift only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9601200" y="4956048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A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started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594360" y="56235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A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Autonomy comes last by evidence, not caution — automatic action is limited to changes whose worst outcome is a slightly warmer room.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1148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would change this recommendation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594360" y="1078992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FA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business case that lists only upside is not a business case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94360" y="1874520"/>
            <a:ext cx="3429000" cy="2377440"/>
          </a:xfrm>
          <a:prstGeom prst="roundRect">
            <a:avLst>
              <a:gd name="adj" fmla="val 3462"/>
            </a:avLst>
          </a:prstGeom>
          <a:solidFill>
            <a:srgbClr val="13314A"/>
          </a:solidFill>
          <a:ln w="12700">
            <a:solidFill>
              <a:srgbClr val="13314A"/>
            </a:solidFill>
            <a:prstDash val="solid"/>
          </a:ln>
          <a:effectLst>
            <a:outerShdw sx="100000" sy="100000" kx="0" ky="0" algn="bl" rotWithShape="0" blurRad="50800" dist="12700" dir="5400000">
              <a:srgbClr val="9AA9B3">
                <a:alpha val="2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50392" y="2176272"/>
            <a:ext cx="237744" cy="237744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0392" y="246888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sensors are noisier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50392" y="2962656"/>
            <a:ext cx="2926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FC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figures come from a simulator. Trend features are the most flattered by clean data, and they carry the predictive advantage.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389120" y="1874520"/>
            <a:ext cx="3429000" cy="2377440"/>
          </a:xfrm>
          <a:prstGeom prst="roundRect">
            <a:avLst>
              <a:gd name="adj" fmla="val 3462"/>
            </a:avLst>
          </a:prstGeom>
          <a:solidFill>
            <a:srgbClr val="13314A"/>
          </a:solidFill>
          <a:ln w="12700">
            <a:solidFill>
              <a:srgbClr val="13314A"/>
            </a:solidFill>
            <a:prstDash val="solid"/>
          </a:ln>
          <a:effectLst>
            <a:outerShdw sx="100000" sy="100000" kx="0" ky="0" algn="bl" rotWithShape="0" blurRad="50800" dist="12700" dir="5400000">
              <a:srgbClr val="9AA9B3">
                <a:alpha val="2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645152" y="2176272"/>
            <a:ext cx="237744" cy="237744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45152" y="246888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failure interval is wrong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645152" y="2962656"/>
            <a:ext cx="2926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FC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Avoided downtime is half the benefit and rests on an interval no data here supports.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183880" y="1874520"/>
            <a:ext cx="3429000" cy="2377440"/>
          </a:xfrm>
          <a:prstGeom prst="roundRect">
            <a:avLst>
              <a:gd name="adj" fmla="val 3462"/>
            </a:avLst>
          </a:prstGeom>
          <a:solidFill>
            <a:srgbClr val="13314A"/>
          </a:solidFill>
          <a:ln w="12700">
            <a:solidFill>
              <a:srgbClr val="13314A"/>
            </a:solidFill>
            <a:prstDash val="solid"/>
          </a:ln>
          <a:effectLst>
            <a:outerShdw sx="100000" sy="100000" kx="0" ky="0" algn="bl" rotWithShape="0" blurRad="50800" dist="12700" dir="5400000">
              <a:srgbClr val="9AA9B3">
                <a:alpha val="2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439912" y="2176272"/>
            <a:ext cx="237744" cy="237744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439912" y="246888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Faults are caught anyway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39912" y="2962656"/>
            <a:ext cx="2926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FC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existing maintenance already catches these faults early, the energy benefit shrinks sharply.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94360" y="47091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3FA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94360" y="5093208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Fund the live pilot as a validation exercise — one CRAC unit in shadow mode, to learn whether the model survives real sensors before wider capital is committed.</a:t>
            </a:r>
            <a:endParaRPr lang="en-US" sz="16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2026-08-10T16:08:45Z</dcterms:created>
  <dcterms:modified xsi:type="dcterms:W3CDTF">2026-08-10T16:08:45Z</dcterms:modified>
</cp:coreProperties>
</file>