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Hours of warning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&quot; h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0A254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This system</c:v>
                  </c:pt>
                  <c:pt idx="1">
                    <c:v>Best conventional
threshold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4.88</c:v>
                </c:pt>
                <c:pt idx="1">
                  <c:v>3.25</c:v>
                </c:pt>
              </c:numCache>
            </c:numRef>
          </c:val>
        </c:ser>
        <c:dLbls>
          <c:numFmt formatCode="0.00&quot; h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0A254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725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0"/>
        <c:axPos val="l"/>
        <c:majorGridlines>
          <c:spPr>
            <a:ln w="12700" cap="flat">
              <a:solidFill>
                <a:srgbClr val="E1E8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A6B77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A6B77"/>
                    </a:solidFill>
                    <a:latin typeface="Arial"/>
                  </a:rPr>
                  <a:t>hours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SGD per year</c:v>
                </c:pt>
              </c:strCache>
            </c:strRef>
          </c:tx>
          <c:spPr>
            <a:solidFill>
              <a:srgbClr val="3FA7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0A254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FA7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A254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FA7B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Avoided
downtime</c:v>
                  </c:pt>
                  <c:pt idx="1">
                    <c:v>Cooling
energy</c:v>
                  </c:pt>
                  <c:pt idx="2">
                    <c:v>Avoided callout
premium</c:v>
                  </c:pt>
                  <c:pt idx="3">
                    <c:v>Reduced manual
monitoring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12000</c:v>
                </c:pt>
                <c:pt idx="1">
                  <c:v>6000</c:v>
                </c:pt>
                <c:pt idx="2">
                  <c:v>4000</c:v>
                </c:pt>
                <c:pt idx="3">
                  <c:v>2000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0A254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725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00"/>
          <c:min val="0"/>
        </c:scaling>
        <c:delete val="0"/>
        <c:axPos val="l"/>
        <c:majorGridlines>
          <c:spPr>
            <a:ln w="12700" cap="flat">
              <a:solidFill>
                <a:srgbClr val="E1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Frame: this is a maintenance decision-support system, not a thermostat. The pitch covers business value, security and ethical safety.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problem is not detection speed alone — it is that a temperature reading cannot tell you what to do about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twins: racks, cooling, occupancy/workload, energy. Coordinated centrally because they share one thermal zone.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this argument. It is categorical — no threshold at any alarm level can identify a mechanism.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2.1x is the defensible floor. Earlier baselines fire later and would give a larger multiple; we chose the strongest available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first to name the weak assumption. 4,000 SGD avoided failure is 58% of benefit and rests on a failure interval this project cannot measure.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sensitivity case changes the recommendation rather than decorating it: fund Phase 2 as validation, commit capital at Phase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Security was implemented and then tested by attempting the attacks it should prevent. Three real defects surfaced in the process and were fixed.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strongest ethics claim is not that there are no weaknesses — it is that we measured one and mitigated it at a stated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exists to test the assumption most likely to fail: that the model survives real sensor noise.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ask, framed honestly: Phase 2 buys information, not return. The return case begins at Phase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554480"/>
            <a:ext cx="5120640" cy="5120640"/>
          </a:xfrm>
          <a:prstGeom prst="ellipse">
            <a:avLst/>
          </a:prstGeom>
          <a:solidFill>
            <a:srgbClr val="1C7293">
              <a:alpha val="22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3931920"/>
            <a:ext cx="3108960" cy="3108960"/>
          </a:xfrm>
          <a:prstGeom prst="ellipse">
            <a:avLst/>
          </a:prstGeom>
          <a:solidFill>
            <a:srgbClr val="3FA7B8">
              <a:alpha val="15000"/>
            </a:srgbClr>
          </a:solidFill>
          <a:ln w="12700">
            <a:solidFill>
              <a:srgbClr val="3FA7B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600200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3F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COOLING MAINTENANCE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94360" y="201168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Knowing which part</a:t>
            </a:r>
            <a:endParaRPr lang="en-US" sz="40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failing, four hours early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94360" y="388620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9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digital twin for the server room that predicts CRAC equipment failure, identifies the mechanism, and recommends the right intervention while the fault is still developing.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94360" y="5029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F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case  ·  Security  ·  Ethical safety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time the room is hot, it is already late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94360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cooling fault shows in equipment behaviour long before it shows in temperature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29000" cy="2880360"/>
          </a:xfrm>
          <a:prstGeom prst="roundRect">
            <a:avLst>
              <a:gd name="adj" fmla="val 2857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0392" y="2048256"/>
            <a:ext cx="237744" cy="23774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16152" y="201168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before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50392" y="2487168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current rises.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pressure climbs.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 increases.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0392" y="4069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Invisible to a thermostat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105656" y="3127248"/>
            <a:ext cx="256032" cy="182880"/>
          </a:xfrm>
          <a:prstGeom prst="rightArrow">
            <a:avLst/>
          </a:prstGeom>
          <a:solidFill>
            <a:srgbClr val="B7C4CC"/>
          </a:solidFill>
          <a:ln w="12700">
            <a:solidFill>
              <a:srgbClr val="B7C4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89120" y="1783080"/>
            <a:ext cx="3429000" cy="2880360"/>
          </a:xfrm>
          <a:prstGeom prst="roundRect">
            <a:avLst>
              <a:gd name="adj" fmla="val 2857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45152" y="2048256"/>
            <a:ext cx="237744" cy="23774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10912" y="201168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 before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45152" y="2487168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drops.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air warms.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Rack inlets creep up.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45152" y="4069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below alarm threshold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900416" y="3127248"/>
            <a:ext cx="256032" cy="182880"/>
          </a:xfrm>
          <a:prstGeom prst="rightArrow">
            <a:avLst/>
          </a:prstGeom>
          <a:solidFill>
            <a:srgbClr val="B7C4CC"/>
          </a:solidFill>
          <a:ln w="12700">
            <a:solidFill>
              <a:srgbClr val="B7C4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83880" y="1783080"/>
            <a:ext cx="3429000" cy="2880360"/>
          </a:xfrm>
          <a:prstGeom prst="roundRect">
            <a:avLst>
              <a:gd name="adj" fmla="val 2857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39912" y="2048256"/>
            <a:ext cx="237744" cy="23774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05672" y="201168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alarm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439912" y="2487168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crossed.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 throttling.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callout.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439912" y="4069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begins here today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498348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4400" y="5148072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Raising cooling output is not always the right answer. Temperature rises from workload, from poor airflow, or from equipment degradation — and each needs a different response.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system does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94360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coordinated twins over the existing telemetry link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5257800" cy="1325880"/>
          </a:xfrm>
          <a:prstGeom prst="roundRect">
            <a:avLst>
              <a:gd name="adj" fmla="val 6207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30552"/>
            <a:ext cx="237744" cy="23774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2728" y="2084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2496312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failure up to four hours ahead, with a time-to-failure countdown.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17920" y="1874520"/>
            <a:ext cx="5257800" cy="1325880"/>
          </a:xfrm>
          <a:prstGeom prst="roundRect">
            <a:avLst>
              <a:gd name="adj" fmla="val 6207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0" y="2130552"/>
            <a:ext cx="237744" cy="23774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76288" y="2084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2496312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mechanism is failing — worn fan bearing or clogged filter.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94360" y="3611880"/>
            <a:ext cx="5257800" cy="1325880"/>
          </a:xfrm>
          <a:prstGeom prst="roundRect">
            <a:avLst>
              <a:gd name="adj" fmla="val 6207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68680" y="3867912"/>
            <a:ext cx="237744" cy="23774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52728" y="382219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68680" y="4233672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sensor evidence behind every warning, and which model raised it.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17920" y="3611880"/>
            <a:ext cx="5257800" cy="1325880"/>
          </a:xfrm>
          <a:prstGeom prst="roundRect">
            <a:avLst>
              <a:gd name="adj" fmla="val 6207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92240" y="3867912"/>
            <a:ext cx="237744" cy="23774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76288" y="382219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92240" y="4233672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proportionate action, with its estimated cost. Never acts alone.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94360" y="5486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approval is required for every action. Nothing in the system actuates equipment.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threshold tells you it is hot. It cannot tell you why.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94360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difference no alarm setting can close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5394960" cy="3200400"/>
          </a:xfrm>
          <a:prstGeom prst="roundRect">
            <a:avLst>
              <a:gd name="adj" fmla="val 2571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11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threshold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45059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"CRAC-01 is running hot."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92608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undifferentiated callout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Technician diagnoses on arrival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guess closes the ticket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783080"/>
            <a:ext cx="5303520" cy="3200400"/>
          </a:xfrm>
          <a:prstGeom prst="roundRect">
            <a:avLst>
              <a:gd name="adj" fmla="val 2571"/>
            </a:avLst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83680" y="20116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system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0" y="245059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"Filter clogging. Replace filter."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83680" y="292608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D6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the failing mechanism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D6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part, different job, different urgency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D6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identified at 98.8% accuracy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94360" y="521208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FDF1E4"/>
          </a:solidFill>
          <a:ln w="12700">
            <a:solidFill>
              <a:srgbClr val="FDF1E4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534924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A3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this wrong is worse than not knowing. A technician replaces a clean filter, closes the ticket, and the bearing keeps degrading — with the alarm already acknowledged and the lead time spent.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it sees the fault sooner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94360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warning before failure, across 31 failing test runs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64922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52360" y="1783080"/>
            <a:ext cx="4114800" cy="1463040"/>
          </a:xfrm>
          <a:prstGeom prst="roundRect">
            <a:avLst>
              <a:gd name="adj" fmla="val 5625"/>
            </a:avLst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680960" y="19202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1.5×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7680960" y="2670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warning time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452360" y="3566160"/>
            <a:ext cx="4114800" cy="1783080"/>
          </a:xfrm>
          <a:prstGeom prst="roundRect">
            <a:avLst>
              <a:gd name="adj" fmla="val 4615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680960" y="37673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conservatively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680960" y="4114800"/>
            <a:ext cx="3703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baseline is computed from the same test runs using the same lead-time function — not a fixed number chosen to flatter the result. Both detectors caught all 31 failing runs.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94360" y="55961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five hours of warning — enough to schedule maintenance rather than react to an outage.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value comes from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94360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annual benefit per monitored CRAC unit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667512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43800" y="1783080"/>
            <a:ext cx="4023360" cy="3520440"/>
          </a:xfrm>
          <a:prstGeom prst="roundRect">
            <a:avLst>
              <a:gd name="adj" fmla="val 2338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0" y="19385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SGD 24,000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7772400" y="2468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CRAC, per year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772400" y="3035808"/>
            <a:ext cx="841248" cy="237744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0" y="3035808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772400" y="3346704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is measured: 0.993 AUC, 0.925 F1, 0.08 false alarms per healthy run.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772400" y="4206240"/>
            <a:ext cx="841248" cy="23774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72400" y="4206240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ASSUMED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7772400" y="4517136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on this slide is a planning assumption. Avoided downtime is half the total and is the largest single assumption in the case.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94360" y="5532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Avoided cost depends on how long a fault would otherwise run undetected — an interval this project cannot measure. The pilot phase measures it directly and replaces this assumption.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Return on investment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94360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case, and the same case with every benefit halved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94360" y="1783080"/>
            <a:ext cx="6858000" cy="9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246120" y="18288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74920" y="18288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halved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2194560"/>
            <a:ext cx="6601968" cy="868680"/>
          </a:xfrm>
          <a:prstGeom prst="roundRect">
            <a:avLst>
              <a:gd name="adj" fmla="val 9474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24505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on capital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246120" y="23774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7.6 months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074920" y="23774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16.8 months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" y="3218688"/>
            <a:ext cx="6601968" cy="868680"/>
          </a:xfrm>
          <a:prstGeom prst="roundRect">
            <a:avLst>
              <a:gd name="adj" fmla="val 9474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34747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return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246120" y="340156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50 %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074920" y="340156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recover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" y="4242816"/>
            <a:ext cx="6601968" cy="868680"/>
          </a:xfrm>
          <a:prstGeom prst="roundRect">
            <a:avLst>
              <a:gd name="adj" fmla="val 9474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44988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Three-year return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246120" y="442569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260 %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5074920" y="4425696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80 %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726680" y="1783080"/>
            <a:ext cx="3840480" cy="1645920"/>
          </a:xfrm>
          <a:prstGeom prst="roundRect">
            <a:avLst>
              <a:gd name="adj" fmla="val 5000"/>
            </a:avLst>
          </a:prstGeom>
          <a:solidFill>
            <a:srgbClr val="FDF1E4"/>
          </a:solidFill>
          <a:ln w="12700">
            <a:solidFill>
              <a:srgbClr val="FDF1E4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955280" y="1938528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3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year is not guaranteed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955280" y="2395728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3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benefits are half what we assume, year 1 does not recover its own cost and payback stretches to 16.8 months.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726680" y="3657600"/>
            <a:ext cx="3840480" cy="1691640"/>
          </a:xfrm>
          <a:prstGeom prst="roundRect">
            <a:avLst>
              <a:gd name="adj" fmla="val 4865"/>
            </a:avLst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955280" y="3822192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still holds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955280" y="4169664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three years the halved case still returns 80%. Integration cost is one-off, so each additional unit is far cheaper than the first.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94360" y="55961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case: 7.6 months to recover capital, 50% first-year return. The pilot exists to test the assumption this rests on.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94360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that advises engineers must protect the integrity of its advice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6949440" cy="868680"/>
          </a:xfrm>
          <a:prstGeom prst="roundRect">
            <a:avLst>
              <a:gd name="adj" fmla="val 9474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0392" y="2103120"/>
            <a:ext cx="237744" cy="237744"/>
          </a:xfrm>
          <a:prstGeom prst="ellipse">
            <a:avLst/>
          </a:prstGeom>
          <a:solidFill>
            <a:srgbClr val="2E7D52"/>
          </a:solidFill>
          <a:ln w="12700">
            <a:solidFill>
              <a:srgbClr val="2E7D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4440" y="19293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Authenticated clients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234440" y="2231136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Per-service credentials. Anonymous connections refused.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94360" y="2852928"/>
            <a:ext cx="6949440" cy="868680"/>
          </a:xfrm>
          <a:prstGeom prst="roundRect">
            <a:avLst>
              <a:gd name="adj" fmla="val 9474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50392" y="3127248"/>
            <a:ext cx="237744" cy="237744"/>
          </a:xfrm>
          <a:prstGeom prst="ellipse">
            <a:avLst/>
          </a:prstGeom>
          <a:solidFill>
            <a:srgbClr val="2E7D52"/>
          </a:solidFill>
          <a:ln w="12700">
            <a:solidFill>
              <a:srgbClr val="2E7D5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34440" y="29535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234440" y="3255264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permissions per identity. One identity only may publish a recommendation.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94360" y="3877056"/>
            <a:ext cx="6949440" cy="868680"/>
          </a:xfrm>
          <a:prstGeom prst="roundRect">
            <a:avLst>
              <a:gd name="adj" fmla="val 9474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50392" y="4151376"/>
            <a:ext cx="237744" cy="237744"/>
          </a:xfrm>
          <a:prstGeom prst="ellipse">
            <a:avLst/>
          </a:prstGeom>
          <a:solidFill>
            <a:srgbClr val="2E7D52"/>
          </a:solidFill>
          <a:ln w="12700">
            <a:solidFill>
              <a:srgbClr val="2E7D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34440" y="3977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transport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234440" y="4279392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for all broker connections in deployment.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4360" y="4901184"/>
            <a:ext cx="6949440" cy="868680"/>
          </a:xfrm>
          <a:prstGeom prst="roundRect">
            <a:avLst>
              <a:gd name="adj" fmla="val 9474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50392" y="5175504"/>
            <a:ext cx="237744" cy="237744"/>
          </a:xfrm>
          <a:prstGeom prst="ellipse">
            <a:avLst/>
          </a:prstGeom>
          <a:solidFill>
            <a:srgbClr val="2E7D52"/>
          </a:solidFill>
          <a:ln w="12700">
            <a:solidFill>
              <a:srgbClr val="2E7D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34440" y="50017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Liveness detection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234440" y="5303520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twin publishes a retained offline marker if it drops. Implemented and verified.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909560" y="1828800"/>
            <a:ext cx="3657600" cy="4059936"/>
          </a:xfrm>
          <a:prstGeom prst="roundRect">
            <a:avLst>
              <a:gd name="adj" fmla="val 2250"/>
            </a:avLst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183880" y="201168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threat that</a:t>
            </a:r>
            <a:endParaRPr lang="en-US" sz="16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matters most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183880" y="2834640"/>
            <a:ext cx="3200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6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forged maintenance recommendation is a fabricated instruction to an engineer.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6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turns the system into an attack channel against staff — worse than any data loss it could suffer.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6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exactly one identity may write one, and every recommendation is recorded with its source.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Ethical safety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94360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limitation we can name, and how we manage it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5486400" cy="2286000"/>
          </a:xfrm>
          <a:prstGeom prst="roundRect">
            <a:avLst>
              <a:gd name="adj" fmla="val 3600"/>
            </a:avLst>
          </a:prstGeom>
          <a:solidFill>
            <a:srgbClr val="FDF1E4"/>
          </a:solidFill>
          <a:ln w="12700">
            <a:solidFill>
              <a:srgbClr val="FDF1E4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195681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3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found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86968" y="233172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trained on two failure mechanisms. Against a third — a refrigerant leak, a failing compressor — it has no basis for recognition. It would stay confident about what it knows and quiet about what it does not.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86968" y="36118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A3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failure mode is silence, not error.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55080" y="1783080"/>
            <a:ext cx="5212080" cy="2286000"/>
          </a:xfrm>
          <a:prstGeom prst="roundRect">
            <a:avLst>
              <a:gd name="adj" fmla="val 3600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47688" y="195681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47688" y="2331720"/>
            <a:ext cx="4663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 a simpler model on raw sensor values alongside the primary one and escalate when either fires. This buys coverage on unfamiliar faults at the cost of precision on familiar ones — a trade we state rather than hide.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647688" y="36118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is why autonomy comes last.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94360" y="4343400"/>
            <a:ext cx="3429000" cy="1572768"/>
          </a:xfrm>
          <a:prstGeom prst="roundRect">
            <a:avLst>
              <a:gd name="adj" fmla="val 5233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2104" y="4572000"/>
            <a:ext cx="237744" cy="23774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97864" y="45171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oversight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32104" y="4901184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only. No autonomous control anywhere in the system.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89120" y="4343400"/>
            <a:ext cx="3429000" cy="1572768"/>
          </a:xfrm>
          <a:prstGeom prst="roundRect">
            <a:avLst>
              <a:gd name="adj" fmla="val 5233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26864" y="4572000"/>
            <a:ext cx="237744" cy="23774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92624" y="45171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Transparency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626864" y="4901184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alert carries its sensor evidence, its confidence, and the mechanism.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183880" y="4343400"/>
            <a:ext cx="3429000" cy="1572768"/>
          </a:xfrm>
          <a:prstGeom prst="roundRect">
            <a:avLst>
              <a:gd name="adj" fmla="val 5233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421624" y="4572000"/>
            <a:ext cx="237744" cy="23774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87384" y="45171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limits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421624" y="4901184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figures come from simulation and are an upper bound, not a forecast.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prototype to deployment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94360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phase buys the answer the next one needs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10881360" cy="640080"/>
          </a:xfrm>
          <a:prstGeom prst="roundRect">
            <a:avLst>
              <a:gd name="adj" fmla="val 12857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95528" y="1883664"/>
            <a:ext cx="347472" cy="34747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18836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307592" y="19110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657600" y="192024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room, four twins, hardened broker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0" y="19202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2496312"/>
            <a:ext cx="10881360" cy="640080"/>
          </a:xfrm>
          <a:prstGeom prst="roundRect">
            <a:avLst>
              <a:gd name="adj" fmla="val 12857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95528" y="2642616"/>
            <a:ext cx="347472" cy="347472"/>
          </a:xfrm>
          <a:prstGeom prst="ellipse">
            <a:avLst/>
          </a:prstGeom>
          <a:solidFill>
            <a:srgbClr val="3FA7B8"/>
          </a:solidFill>
          <a:ln w="12700">
            <a:solidFill>
              <a:srgbClr val="3FA7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2642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07592" y="267004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pilot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657600" y="2679192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CRAC, physical sensors, shadow mode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601200" y="267919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SGD 13,200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" y="3255264"/>
            <a:ext cx="10881360" cy="640080"/>
          </a:xfrm>
          <a:prstGeom prst="roundRect">
            <a:avLst>
              <a:gd name="adj" fmla="val 12857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95528" y="3401568"/>
            <a:ext cx="347472" cy="347472"/>
          </a:xfrm>
          <a:prstGeom prst="ellipse">
            <a:avLst/>
          </a:prstGeom>
          <a:solidFill>
            <a:srgbClr val="3FA7B8"/>
          </a:solidFill>
          <a:ln w="12700">
            <a:solidFill>
              <a:srgbClr val="3FA7B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5528" y="34015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07592" y="342900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room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657600" y="343814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CRACs, maintenance-system integration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601200" y="343814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SGD 26,000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94360" y="4014216"/>
            <a:ext cx="10881360" cy="640080"/>
          </a:xfrm>
          <a:prstGeom prst="roundRect">
            <a:avLst>
              <a:gd name="adj" fmla="val 12857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95528" y="4160520"/>
            <a:ext cx="347472" cy="347472"/>
          </a:xfrm>
          <a:prstGeom prst="ellipse">
            <a:avLst/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5528" y="4160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307592" y="41879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Multi-room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657600" y="4197096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rooms, twelve CRACs, federation layer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601200" y="41970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SGD 65,400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94360" y="4773168"/>
            <a:ext cx="10881360" cy="640080"/>
          </a:xfrm>
          <a:prstGeom prst="roundRect">
            <a:avLst>
              <a:gd name="adj" fmla="val 12857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95528" y="4919472"/>
            <a:ext cx="347472" cy="347472"/>
          </a:xfrm>
          <a:prstGeom prst="ellipse">
            <a:avLst/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95528" y="4919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307592" y="494690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autonomy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3657600" y="495604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Setpoint ±1 °C and workload shift only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601200" y="495604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SGD 25,000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94360" y="5623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Autonomy comes last by evidence, not caution — automatic action is limited to changes whose worst outcome is a slightly warmer room.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would change this recommendation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94360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F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business case that lists only upside is not a business case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3429000" cy="2377440"/>
          </a:xfrm>
          <a:prstGeom prst="roundRect">
            <a:avLst>
              <a:gd name="adj" fmla="val 3462"/>
            </a:avLst>
          </a:prstGeom>
          <a:solidFill>
            <a:srgbClr val="13314A"/>
          </a:solidFill>
          <a:ln w="12700">
            <a:solidFill>
              <a:srgbClr val="13314A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0392" y="2176272"/>
            <a:ext cx="237744" cy="23774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24688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sensors are noisier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50392" y="2962656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C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figures come from a simulator. Trend features are the most flattered by clean data, and they carry the predictive advantage.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89120" y="1874520"/>
            <a:ext cx="3429000" cy="2377440"/>
          </a:xfrm>
          <a:prstGeom prst="roundRect">
            <a:avLst>
              <a:gd name="adj" fmla="val 3462"/>
            </a:avLst>
          </a:prstGeom>
          <a:solidFill>
            <a:srgbClr val="13314A"/>
          </a:solidFill>
          <a:ln w="12700">
            <a:solidFill>
              <a:srgbClr val="13314A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45152" y="2176272"/>
            <a:ext cx="237744" cy="23774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45152" y="24688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failure interval is wrong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45152" y="2962656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C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Avoided downtime is half the benefit and rests on an interval no data here supports.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83880" y="1874520"/>
            <a:ext cx="3429000" cy="2377440"/>
          </a:xfrm>
          <a:prstGeom prst="roundRect">
            <a:avLst>
              <a:gd name="adj" fmla="val 3462"/>
            </a:avLst>
          </a:prstGeom>
          <a:solidFill>
            <a:srgbClr val="13314A"/>
          </a:solidFill>
          <a:ln w="12700">
            <a:solidFill>
              <a:srgbClr val="13314A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39912" y="2176272"/>
            <a:ext cx="237744" cy="23774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39912" y="24688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Faults are caught anyway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39912" y="2962656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C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existing maintenance already catches these faults early, the energy benefit shrinks sharply.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94360" y="4709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3F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94360" y="509320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 the live pilot as a validation exercise — one CRAC unit in shadow mode, to learn whether the model survives real sensors before wider capital is committed.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2026-08-10T16:08:45Z</dcterms:created>
  <dcterms:modified xsi:type="dcterms:W3CDTF">2026-08-10T16:08:45Z</dcterms:modified>
</cp:coreProperties>
</file>