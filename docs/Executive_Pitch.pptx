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873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is a maintenance decision-support system, not a thermostat. The pitch covers business value, security and ethical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 is not detection speed alone — it is that a temperature reading cannot tell you what to do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twins: racks, cooling, occupancy/workload, energy. Coordinated centrally because they share one thermal 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this argument. It is categorical — no threshold at any alarm level can identify a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2.1x is the defensible floor. Earlier baselines fire later and would give a larger multiple; we chose the strongest available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first to name the weak assumption. 4,000 SGD avoided failure is 58% of benefit and rests on a failure interval this project cannot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sensitivity case changes the recommendation rather than decorating it: fund Phase 2 as validation, commit capital at Phase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was implemented and then tested by attempting the attacks it should prevent. Three real defects surfaced in the process and were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strongest ethics claim is not that there are no weaknesses — it is that we measured one and mitigated it at a stated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exists to test the assumption most likely to fail: that the model survives real sensor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ask, framed honestly: Phase 2 buys information, not return. The return case begins at Phase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890" y="1047640"/>
            <a:ext cx="17602324" cy="3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39AA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PREDICTIVE COOLING MAINTENANCE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2890" y="1905551"/>
            <a:ext cx="13931154" cy="2058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400"/>
              </a:lnSpc>
              <a:buNone/>
            </a:pPr>
            <a:r>
              <a:rPr lang="en-US" sz="7800" kern="0" spc="-156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which part is failing, four hours early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142890" y="4421519"/>
            <a:ext cx="12165217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839"/>
              </a:lnSpc>
              <a:buNone/>
            </a:pPr>
            <a:r>
              <a:rPr lang="en-US" sz="2700" dirty="0">
                <a:solidFill>
                  <a:srgbClr val="B2B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twin for the server room that predicts CRAC equipment failure, identifies the mechanism, and recommends the right intervention while the fault is still developing.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2890" y="8583856"/>
            <a:ext cx="16002113" cy="9525"/>
          </a:xfrm>
          <a:prstGeom prst="rect">
            <a:avLst/>
          </a:prstGeom>
          <a:solidFill>
            <a:srgbClr val="353E4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142890" y="9200512"/>
            <a:ext cx="16482176" cy="362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9EA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Investment case · Security · Ethical safety</a:t>
            </a:r>
            <a:endParaRPr lang="en-US" sz="1950" dirty="0"/>
          </a:p>
        </p:txBody>
      </p:sp>
      <p:sp>
        <p:nvSpPr>
          <p:cNvPr id="7" name="Team Details">
            <a:extLst>
              <a:ext uri="{FF2B5EF4-FFF2-40B4-BE49-F238E27FC236}">
                <a16:creationId xmlns:a16="http://schemas.microsoft.com/office/drawing/2014/main" id="{581269B4-7C6B-4525-BD05-455DA6291B43}"/>
              </a:ext>
            </a:extLst>
          </p:cNvPr>
          <p:cNvSpPr txBox="1"/>
          <p:nvPr/>
        </p:nvSpPr>
        <p:spPr>
          <a:xfrm>
            <a:off x="1143000" y="6350000"/>
            <a:ext cx="160020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spc="120" dirty="0">
                <a:solidFill>
                  <a:srgbClr val="9EA6AE"/>
                </a:solidFill>
                <a:latin typeface="Arial" pitchFamily="34" charset="0"/>
                <a:cs typeface="Arial" pitchFamily="34" charset="-120"/>
              </a:rPr>
              <a:t>Team members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B2B8BF"/>
                </a:solidFill>
                <a:latin typeface="Arial" pitchFamily="34" charset="0"/>
                <a:cs typeface="Arial" pitchFamily="34" charset="-120"/>
              </a:rPr>
              <a:t>Lourduraj John Charles (1011136)   ·   Yang Xingyu (1010962)</a:t>
            </a:r>
          </a:p>
          <a:p>
            <a:pPr marL="0" indent="0"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B2B8BF"/>
                </a:solidFill>
                <a:latin typeface="Arial" pitchFamily="34" charset="0"/>
                <a:cs typeface="Arial" pitchFamily="34" charset="-120"/>
              </a:rPr>
              <a:t>Syed Adeel Ahmed Mustaq Ahamed (1011010)   ·   Kuhu Gupta (1010814)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9EA6AE"/>
                </a:solidFill>
                <a:latin typeface="Arial" pitchFamily="34" charset="0"/>
                <a:cs typeface="Arial" pitchFamily="34" charset="-120"/>
              </a:rPr>
              <a:t>Submission date: 16 August 2026</a:t>
            </a:r>
          </a:p>
        </p:txBody>
      </p:sp>
    </p:spTree>
    <p:extLst>
      <p:ext uri="{BB962C8B-B14F-4D97-AF65-F5344CB8AC3E}">
        <p14:creationId xmlns:p14="http://schemas.microsoft.com/office/powerpoint/2010/main" val="243730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890" y="952390"/>
            <a:ext cx="14668381" cy="72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745"/>
              </a:lnSpc>
              <a:buNone/>
            </a:pPr>
            <a:r>
              <a:rPr lang="en-US" sz="4800" kern="0" spc="-72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time the room is hot, it is already late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2890" y="1863659"/>
            <a:ext cx="13620631" cy="49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550" dirty="0">
                <a:solidFill>
                  <a:srgbClr val="64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cooling fault shows in equipment behaviour long before it shows in temperature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2890" y="2926623"/>
            <a:ext cx="4978467" cy="42333"/>
          </a:xfrm>
          <a:prstGeom prst="rect">
            <a:avLst/>
          </a:prstGeom>
          <a:solidFill>
            <a:srgbClr val="0F919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142890" y="3235634"/>
            <a:ext cx="5476314" cy="3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255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BEFORE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2890" y="3731618"/>
            <a:ext cx="5476314" cy="475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50"/>
              </a:lnSpc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current rises.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2890" y="4340270"/>
            <a:ext cx="5476314" cy="475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50"/>
              </a:lnSpc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pressure climbs.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2890" y="4948922"/>
            <a:ext cx="5476314" cy="475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50"/>
              </a:lnSpc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increases.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42890" y="5805224"/>
            <a:ext cx="5127821" cy="34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C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Invisible to a thermostat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654712" y="2926623"/>
            <a:ext cx="4978467" cy="42333"/>
          </a:xfrm>
          <a:prstGeom prst="rect">
            <a:avLst/>
          </a:prstGeom>
          <a:solidFill>
            <a:srgbClr val="D09945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6654712" y="3235634"/>
            <a:ext cx="5476314" cy="3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8657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 BEFORE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654712" y="3731618"/>
            <a:ext cx="5476314" cy="475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50"/>
              </a:lnSpc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drops.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654712" y="4340270"/>
            <a:ext cx="5476314" cy="475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50"/>
              </a:lnSpc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air warms.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654712" y="4948922"/>
            <a:ext cx="5476314" cy="475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50"/>
              </a:lnSpc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 inlets creep up.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654712" y="5805224"/>
            <a:ext cx="5127821" cy="34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C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below alarm threshold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2166535" y="2926623"/>
            <a:ext cx="4978467" cy="42333"/>
          </a:xfrm>
          <a:prstGeom prst="rect">
            <a:avLst/>
          </a:prstGeom>
          <a:solidFill>
            <a:srgbClr val="C1552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12166535" y="3235634"/>
            <a:ext cx="5476314" cy="3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A94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ALARM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166535" y="3731618"/>
            <a:ext cx="5476314" cy="475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50"/>
              </a:lnSpc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crossed.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166535" y="4340270"/>
            <a:ext cx="5476314" cy="475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50"/>
              </a:lnSpc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throttling.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166535" y="4948922"/>
            <a:ext cx="5476314" cy="475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50"/>
              </a:lnSpc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callout.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166535" y="5805224"/>
            <a:ext cx="5127821" cy="34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A94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begins here today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42890" y="8156003"/>
            <a:ext cx="14287392" cy="9525"/>
          </a:xfrm>
          <a:prstGeom prst="rect">
            <a:avLst/>
          </a:prstGeom>
          <a:solidFill>
            <a:srgbClr val="D0D5D9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1142890" y="8696458"/>
            <a:ext cx="14716014" cy="86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250" dirty="0">
                <a:solidFill>
                  <a:srgbClr val="47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cooling output is not always the right answer. Temperature rises from workload, from poor airflow, or from equipment degradation — and each needs a different response.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890" y="952390"/>
            <a:ext cx="17602324" cy="72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745"/>
              </a:lnSpc>
              <a:buNone/>
            </a:pPr>
            <a:r>
              <a:rPr lang="en-US" sz="4800" kern="0" spc="-72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does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2890" y="1863659"/>
            <a:ext cx="17602324" cy="49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550" dirty="0">
                <a:solidFill>
                  <a:srgbClr val="64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coordinated twins over the existing telemetry link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42890" y="3002801"/>
            <a:ext cx="4023409" cy="3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91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2890" y="3517746"/>
            <a:ext cx="4023409" cy="560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kern="0" spc="-31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142890" y="4230247"/>
            <a:ext cx="3767374" cy="128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250" dirty="0">
                <a:solidFill>
                  <a:srgbClr val="42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failure up to four hours ahead, with a time-to-failure countdown.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257712" y="3002801"/>
            <a:ext cx="4023409" cy="3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91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257712" y="3517746"/>
            <a:ext cx="4023409" cy="560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kern="0" spc="-31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5257712" y="4230247"/>
            <a:ext cx="3767374" cy="128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250" dirty="0">
                <a:solidFill>
                  <a:srgbClr val="42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mechanism is failing — worn fan bearing or clogged filter.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372535" y="3002801"/>
            <a:ext cx="4023409" cy="3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91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372535" y="3517746"/>
            <a:ext cx="4023409" cy="560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kern="0" spc="-31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9372535" y="4230247"/>
            <a:ext cx="3767374" cy="128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250" dirty="0">
                <a:solidFill>
                  <a:srgbClr val="42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sensor evidence behind every warning, and which model raised it.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487358" y="3002801"/>
            <a:ext cx="4023409" cy="3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91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487358" y="3517746"/>
            <a:ext cx="4023409" cy="560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kern="0" spc="-31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3487358" y="4230247"/>
            <a:ext cx="3767374" cy="128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250" dirty="0">
                <a:solidFill>
                  <a:srgbClr val="42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proportionate action, with the evidence behind it. Never acts alone.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42890" y="8557839"/>
            <a:ext cx="13334892" cy="9525"/>
          </a:xfrm>
          <a:prstGeom prst="rect">
            <a:avLst/>
          </a:prstGeom>
          <a:solidFill>
            <a:srgbClr val="D0D5D9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1142890" y="9098294"/>
            <a:ext cx="13734939" cy="4648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429"/>
              </a:lnSpc>
              <a:buNone/>
            </a:pPr>
            <a:r>
              <a:rPr lang="en-US" sz="2400" dirty="0">
                <a:solidFill>
                  <a:srgbClr val="26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approval is required for every action. Nothing in the system actuates equipment.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890" y="952390"/>
            <a:ext cx="15716131" cy="72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745"/>
              </a:lnSpc>
              <a:buNone/>
            </a:pPr>
            <a:r>
              <a:rPr lang="en-US" sz="4800" kern="0" spc="-72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threshold tells you it is hot. It cannot tell you why.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2890" y="1863659"/>
            <a:ext cx="17602324" cy="49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550" dirty="0">
                <a:solidFill>
                  <a:srgbClr val="64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difference no alarm setting can close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2890" y="2888479"/>
            <a:ext cx="7791539" cy="3776707"/>
          </a:xfrm>
          <a:prstGeom prst="rect">
            <a:avLst/>
          </a:prstGeom>
          <a:solidFill>
            <a:srgbClr val="E5E8E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600068" y="3307513"/>
            <a:ext cx="7564901" cy="3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5E6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THRESHOLD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600068" y="3860602"/>
            <a:ext cx="756490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38"/>
              </a:lnSpc>
              <a:buNone/>
            </a:pPr>
            <a:r>
              <a:rPr lang="en-US" sz="3150" dirty="0">
                <a:solidFill>
                  <a:srgbClr val="26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“CRAC-01 is running hot.”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600068" y="4589198"/>
            <a:ext cx="7564901" cy="43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250" dirty="0">
                <a:solidFill>
                  <a:srgbClr val="4C5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undifferentiated callout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600068" y="5217694"/>
            <a:ext cx="7564901" cy="43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250" dirty="0">
                <a:solidFill>
                  <a:srgbClr val="4C5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 diagnoses on arrival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600068" y="5846190"/>
            <a:ext cx="7564901" cy="43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250" dirty="0">
                <a:solidFill>
                  <a:srgbClr val="4C5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guess closes the ticket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53463" y="2888479"/>
            <a:ext cx="7791539" cy="3776707"/>
          </a:xfrm>
          <a:prstGeom prst="rect">
            <a:avLst/>
          </a:prstGeom>
          <a:solidFill>
            <a:srgbClr val="1A253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9810641" y="3307513"/>
            <a:ext cx="7564901" cy="3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41B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SYSTEM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10641" y="3860602"/>
            <a:ext cx="756490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38"/>
              </a:lnSpc>
              <a:buNone/>
            </a:pPr>
            <a:r>
              <a:rPr lang="en-US" sz="3150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“Filter clogging. Replace filter.”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810641" y="4589198"/>
            <a:ext cx="7564901" cy="43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250" dirty="0">
                <a:solidFill>
                  <a:srgbClr val="B8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failing mechanism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810641" y="5217694"/>
            <a:ext cx="7564901" cy="43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250" dirty="0">
                <a:solidFill>
                  <a:srgbClr val="B8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part, different job, different urgency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810641" y="5846190"/>
            <a:ext cx="7564901" cy="43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250" dirty="0">
                <a:solidFill>
                  <a:srgbClr val="B8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named from which sensor limits tripped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42890" y="8194147"/>
            <a:ext cx="14858892" cy="9525"/>
          </a:xfrm>
          <a:prstGeom prst="rect">
            <a:avLst/>
          </a:prstGeom>
          <a:solidFill>
            <a:srgbClr val="D0D5D9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1142890" y="8696502"/>
            <a:ext cx="15304659" cy="866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250" dirty="0">
                <a:solidFill>
                  <a:srgbClr val="47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this wrong is worse than not knowing. A technician replaces a clean filter, closes the ticket, and the bearing keeps degrading — with the alarm already acknowledged and the lead time spent.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890" y="952390"/>
            <a:ext cx="17602324" cy="72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745"/>
              </a:lnSpc>
              <a:buNone/>
            </a:pPr>
            <a:r>
              <a:rPr lang="en-US" sz="4800" kern="0" spc="-72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sees the fault sooner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2890" y="1863659"/>
            <a:ext cx="17602324" cy="49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550" dirty="0">
                <a:solidFill>
                  <a:srgbClr val="A4A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warning before failure, across 31 failing test runs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42890" y="3002801"/>
            <a:ext cx="4609979" cy="1581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87"/>
              </a:lnSpc>
              <a:buNone/>
            </a:pPr>
            <a:r>
              <a:rPr lang="en-US" sz="13500" kern="0" spc="-540" dirty="0">
                <a:solidFill>
                  <a:srgbClr val="48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1.5×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1142890" y="4736152"/>
            <a:ext cx="4609979" cy="48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700" dirty="0">
                <a:solidFill>
                  <a:srgbClr val="D3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warning time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2890" y="5486577"/>
            <a:ext cx="4609979" cy="348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929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CONSERVATIVELY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248136" y="3002801"/>
            <a:ext cx="1785298" cy="43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0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system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737306" y="3002801"/>
            <a:ext cx="1483898" cy="43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8B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292.5 min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48136" y="3531196"/>
            <a:ext cx="10896866" cy="533356"/>
          </a:xfrm>
          <a:prstGeom prst="rect">
            <a:avLst/>
          </a:prstGeom>
          <a:solidFill>
            <a:srgbClr val="0F919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6248136" y="4445441"/>
            <a:ext cx="4208584" cy="43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0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conventional threshold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737306" y="4445441"/>
            <a:ext cx="1483898" cy="43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8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195.2 min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48136" y="4973837"/>
            <a:ext cx="7257301" cy="533356"/>
          </a:xfrm>
          <a:prstGeom prst="rect">
            <a:avLst/>
          </a:prstGeom>
          <a:solidFill>
            <a:srgbClr val="4A545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248136" y="5964260"/>
            <a:ext cx="8829562" cy="1197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465"/>
              </a:lnSpc>
              <a:buNone/>
            </a:pPr>
            <a:r>
              <a:rPr lang="en-US" sz="2100" dirty="0">
                <a:solidFill>
                  <a:srgbClr val="98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is computed from the same test runs using the same lead-time function — not a fixed number chosen to flatter the result. Both detectors caught all 31 failing runs.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42890" y="8595983"/>
            <a:ext cx="13334892" cy="9525"/>
          </a:xfrm>
          <a:prstGeom prst="rect">
            <a:avLst/>
          </a:prstGeom>
          <a:solidFill>
            <a:srgbClr val="353E4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1142890" y="9098338"/>
            <a:ext cx="13734939" cy="46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429"/>
              </a:lnSpc>
              <a:buNone/>
            </a:pPr>
            <a:r>
              <a:rPr lang="en-US" sz="2400" dirty="0">
                <a:solidFill>
                  <a:srgbClr val="D3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five hours of warning — enough to schedule maintenance rather than react to an outage.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890" y="952390"/>
            <a:ext cx="17602324" cy="72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745"/>
              </a:lnSpc>
              <a:buNone/>
            </a:pPr>
            <a:r>
              <a:rPr lang="en-US" sz="4800" kern="0" spc="-72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value comes from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2890" y="1863659"/>
            <a:ext cx="17602324" cy="49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550" dirty="0">
                <a:solidFill>
                  <a:srgbClr val="64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annual benefit per monitored CRAC unit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42890" y="2850445"/>
            <a:ext cx="5448179" cy="952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68"/>
              </a:lnSpc>
              <a:buNone/>
            </a:pPr>
            <a:r>
              <a:rPr lang="en-US" sz="7200" kern="0" spc="-216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 24,000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2890" y="3936229"/>
            <a:ext cx="5448179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57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CRAC, per year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2890" y="4778596"/>
            <a:ext cx="1524000" cy="424656"/>
          </a:xfrm>
          <a:prstGeom prst="rect">
            <a:avLst/>
          </a:prstGeom>
          <a:ln w="7056">
            <a:solidFill>
              <a:srgbClr val="0F919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1283295" y="4842802"/>
            <a:ext cx="1319389" cy="334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006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38318" y="4800424"/>
            <a:ext cx="3355186" cy="1118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47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0.993 AUC, 0.925 F1, 0.08 false alarms per healthy run.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142890" y="6090047"/>
            <a:ext cx="1368557" cy="424656"/>
          </a:xfrm>
          <a:prstGeom prst="rect">
            <a:avLst/>
          </a:prstGeom>
          <a:ln w="7056">
            <a:solidFill>
              <a:srgbClr val="C9673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283295" y="6154253"/>
            <a:ext cx="1163946" cy="334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9E44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82875" y="6111876"/>
            <a:ext cx="3515292" cy="758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47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on this slide is a planning assumption.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6933958" y="2850445"/>
            <a:ext cx="5105467" cy="685712"/>
          </a:xfrm>
          <a:prstGeom prst="rect">
            <a:avLst/>
          </a:prstGeom>
          <a:solidFill>
            <a:srgbClr val="005A6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12039426" y="2850445"/>
            <a:ext cx="2552678" cy="685712"/>
          </a:xfrm>
          <a:prstGeom prst="rect">
            <a:avLst/>
          </a:prstGeom>
          <a:solidFill>
            <a:srgbClr val="23899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14592104" y="2850445"/>
            <a:ext cx="1702153" cy="685712"/>
          </a:xfrm>
          <a:prstGeom prst="rect">
            <a:avLst/>
          </a:prstGeom>
          <a:solidFill>
            <a:srgbClr val="6DB2B9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16294257" y="2850445"/>
            <a:ext cx="850525" cy="685712"/>
          </a:xfrm>
          <a:prstGeom prst="rect">
            <a:avLst/>
          </a:prstGeom>
          <a:solidFill>
            <a:srgbClr val="B0D6D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6933958" y="4426480"/>
            <a:ext cx="10211044" cy="9525"/>
          </a:xfrm>
          <a:prstGeom prst="rect">
            <a:avLst/>
          </a:prstGeom>
          <a:solidFill>
            <a:srgbClr val="D4D8D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6933958" y="3879013"/>
            <a:ext cx="2800306" cy="43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Avoided downtime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047974" y="3879013"/>
            <a:ext cx="1173229" cy="43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12,000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933958" y="5171392"/>
            <a:ext cx="10211044" cy="9525"/>
          </a:xfrm>
          <a:prstGeom prst="rect">
            <a:avLst/>
          </a:prstGeom>
          <a:solidFill>
            <a:srgbClr val="D4D8D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6933958" y="4623925"/>
            <a:ext cx="2224771" cy="43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energy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230757" y="4623925"/>
            <a:ext cx="990446" cy="43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6,000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933958" y="5916305"/>
            <a:ext cx="10211044" cy="9525"/>
          </a:xfrm>
          <a:prstGeom prst="rect">
            <a:avLst/>
          </a:prstGeom>
          <a:solidFill>
            <a:srgbClr val="D4D8D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6933958" y="5368837"/>
            <a:ext cx="3756378" cy="43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Avoided callout premium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6230757" y="5368837"/>
            <a:ext cx="990446" cy="43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4,000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33958" y="6113750"/>
            <a:ext cx="4236961" cy="43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manual monitoring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6230757" y="6113750"/>
            <a:ext cx="990446" cy="43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2,000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142890" y="8232181"/>
            <a:ext cx="14858892" cy="9525"/>
          </a:xfrm>
          <a:prstGeom prst="rect">
            <a:avLst/>
          </a:prstGeom>
          <a:solidFill>
            <a:srgbClr val="D0D5D9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1142890" y="8696436"/>
            <a:ext cx="15304659" cy="86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250" dirty="0">
                <a:solidFill>
                  <a:srgbClr val="47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Avoided cost depends on how long a fault would otherwise run undetected — an interval this project cannot measure. The pilot phase measures it directly and replaces this assumption.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890" y="952390"/>
            <a:ext cx="17602324" cy="72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745"/>
              </a:lnSpc>
              <a:buNone/>
            </a:pPr>
            <a:r>
              <a:rPr lang="en-US" sz="4800" kern="0" spc="-72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investment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2890" y="1863659"/>
            <a:ext cx="17602324" cy="49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550" dirty="0">
                <a:solidFill>
                  <a:srgbClr val="64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case, and the same case with every benefit halved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2890" y="3358335"/>
            <a:ext cx="4698449" cy="14111"/>
          </a:xfrm>
          <a:prstGeom prst="rect">
            <a:avLst/>
          </a:prstGeom>
          <a:solidFill>
            <a:srgbClr val="262F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5841339" y="3358335"/>
            <a:ext cx="4347436" cy="14111"/>
          </a:xfrm>
          <a:prstGeom prst="rect">
            <a:avLst/>
          </a:prstGeom>
          <a:solidFill>
            <a:srgbClr val="262F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5710916" y="2850445"/>
            <a:ext cx="4477859" cy="355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kern="0" spc="156" dirty="0">
                <a:solidFill>
                  <a:srgbClr val="006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CASE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188775" y="3358335"/>
            <a:ext cx="6956228" cy="14111"/>
          </a:xfrm>
          <a:prstGeom prst="rect">
            <a:avLst/>
          </a:prstGeom>
          <a:solidFill>
            <a:srgbClr val="262F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9980088" y="2850445"/>
            <a:ext cx="7164915" cy="355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kern="0" spc="156" dirty="0">
                <a:solidFill>
                  <a:srgbClr val="9E44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 HALVED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42890" y="4490531"/>
            <a:ext cx="4698449" cy="9525"/>
          </a:xfrm>
          <a:prstGeom prst="rect">
            <a:avLst/>
          </a:prstGeom>
          <a:solidFill>
            <a:srgbClr val="D4D8D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142890" y="3658196"/>
            <a:ext cx="4839403" cy="584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on capital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5841339" y="4490531"/>
            <a:ext cx="4347436" cy="9525"/>
          </a:xfrm>
          <a:prstGeom prst="rect">
            <a:avLst/>
          </a:prstGeom>
          <a:solidFill>
            <a:srgbClr val="D4D8D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5710916" y="3658196"/>
            <a:ext cx="4477859" cy="584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3300" dirty="0">
                <a:solidFill>
                  <a:srgbClr val="1A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7.6 months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10188775" y="4490531"/>
            <a:ext cx="6956228" cy="9525"/>
          </a:xfrm>
          <a:prstGeom prst="rect">
            <a:avLst/>
          </a:prstGeom>
          <a:solidFill>
            <a:srgbClr val="D4D8D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9980088" y="3658196"/>
            <a:ext cx="7164915" cy="584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3300" dirty="0">
                <a:solidFill>
                  <a:srgbClr val="555F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16.8 months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1142890" y="5612144"/>
            <a:ext cx="4698449" cy="9525"/>
          </a:xfrm>
          <a:prstGeom prst="rect">
            <a:avLst/>
          </a:prstGeom>
          <a:solidFill>
            <a:srgbClr val="D4D8D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1142890" y="4783337"/>
            <a:ext cx="4839403" cy="581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return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5841339" y="5612144"/>
            <a:ext cx="4347436" cy="9525"/>
          </a:xfrm>
          <a:prstGeom prst="rect">
            <a:avLst/>
          </a:prstGeom>
          <a:solidFill>
            <a:srgbClr val="D4D8D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5710916" y="4783337"/>
            <a:ext cx="4477859" cy="581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3300" dirty="0">
                <a:solidFill>
                  <a:srgbClr val="1A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50 %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10188775" y="5612144"/>
            <a:ext cx="6956228" cy="9525"/>
          </a:xfrm>
          <a:prstGeom prst="rect">
            <a:avLst/>
          </a:prstGeom>
          <a:solidFill>
            <a:srgbClr val="D4D8D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9980088" y="4783337"/>
            <a:ext cx="7164915" cy="581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3300" dirty="0">
                <a:solidFill>
                  <a:srgbClr val="555F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 not recover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1142890" y="6733757"/>
            <a:ext cx="4698449" cy="9525"/>
          </a:xfrm>
          <a:prstGeom prst="rect">
            <a:avLst/>
          </a:prstGeom>
          <a:solidFill>
            <a:srgbClr val="D4D8D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1142890" y="5904949"/>
            <a:ext cx="4839403" cy="581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Three-year return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5841339" y="6733757"/>
            <a:ext cx="4347436" cy="9525"/>
          </a:xfrm>
          <a:prstGeom prst="rect">
            <a:avLst/>
          </a:prstGeom>
          <a:solidFill>
            <a:srgbClr val="D4D8D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5710916" y="5904949"/>
            <a:ext cx="4477859" cy="581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3300" dirty="0">
                <a:solidFill>
                  <a:srgbClr val="1A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260 %</a:t>
            </a:r>
            <a:endParaRPr lang="en-US" sz="3300" dirty="0"/>
          </a:p>
        </p:txBody>
      </p:sp>
      <p:sp>
        <p:nvSpPr>
          <p:cNvPr id="25" name="Shape 23"/>
          <p:cNvSpPr/>
          <p:nvPr/>
        </p:nvSpPr>
        <p:spPr>
          <a:xfrm>
            <a:off x="10188775" y="6733757"/>
            <a:ext cx="6956228" cy="9525"/>
          </a:xfrm>
          <a:prstGeom prst="rect">
            <a:avLst/>
          </a:prstGeom>
          <a:solidFill>
            <a:srgbClr val="D4D8D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9980088" y="5904949"/>
            <a:ext cx="7164915" cy="581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3300" dirty="0">
                <a:solidFill>
                  <a:srgbClr val="555F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80 %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142890" y="7239552"/>
            <a:ext cx="8382122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year is not guaranteed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142890" y="7796169"/>
            <a:ext cx="7848714" cy="839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017"/>
              </a:lnSpc>
              <a:buNone/>
            </a:pPr>
            <a:r>
              <a:rPr lang="en-US" sz="2175" dirty="0">
                <a:solidFill>
                  <a:srgbClr val="4C5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benefits are half what we assume, year 1 does not recover its own cost and payback stretches to 16.8 months.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9524891" y="7239552"/>
            <a:ext cx="8382122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still holds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9524891" y="7796169"/>
            <a:ext cx="7848714" cy="1239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017"/>
              </a:lnSpc>
              <a:buNone/>
            </a:pPr>
            <a:r>
              <a:rPr lang="en-US" sz="2175" dirty="0">
                <a:solidFill>
                  <a:srgbClr val="4C5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three years the halved case still returns 80%. Integration cost is one-off, so each additional unit is far cheaper than the first.</a:t>
            </a:r>
            <a:endParaRPr lang="en-US" sz="21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890" y="952390"/>
            <a:ext cx="17602324" cy="72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745"/>
              </a:lnSpc>
              <a:buNone/>
            </a:pPr>
            <a:r>
              <a:rPr lang="en-US" sz="4800" kern="0" spc="-72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2890" y="1863659"/>
            <a:ext cx="13620631" cy="49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550" dirty="0">
                <a:solidFill>
                  <a:srgbClr val="A4A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that advises engineers must protect the integrity of its advice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2890" y="2926623"/>
            <a:ext cx="4305433" cy="28222"/>
          </a:xfrm>
          <a:prstGeom prst="rect">
            <a:avLst/>
          </a:prstGeom>
          <a:solidFill>
            <a:srgbClr val="0F919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142890" y="3164307"/>
            <a:ext cx="4735976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clients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2890" y="3701852"/>
            <a:ext cx="4434596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465"/>
              </a:lnSpc>
              <a:buNone/>
            </a:pPr>
            <a:r>
              <a:rPr lang="en-US" sz="2100" dirty="0">
                <a:solidFill>
                  <a:srgbClr val="B2B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Per-service credentials. Anonymous connections refused.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981678" y="2926623"/>
            <a:ext cx="4305543" cy="28222"/>
          </a:xfrm>
          <a:prstGeom prst="rect">
            <a:avLst/>
          </a:prstGeom>
          <a:solidFill>
            <a:srgbClr val="0F919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5981678" y="3164307"/>
            <a:ext cx="473609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981678" y="3701852"/>
            <a:ext cx="4434709" cy="1197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465"/>
              </a:lnSpc>
              <a:buNone/>
            </a:pPr>
            <a:r>
              <a:rPr lang="en-US" sz="2100" dirty="0">
                <a:solidFill>
                  <a:srgbClr val="B2B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permissions per identity. One identity only may publish a recommendation.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2890" y="5280753"/>
            <a:ext cx="4305433" cy="28222"/>
          </a:xfrm>
          <a:prstGeom prst="rect">
            <a:avLst/>
          </a:prstGeom>
          <a:solidFill>
            <a:srgbClr val="0F919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1142890" y="5518438"/>
            <a:ext cx="4735976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transport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42890" y="6055983"/>
            <a:ext cx="4434596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465"/>
              </a:lnSpc>
              <a:buNone/>
            </a:pPr>
            <a:r>
              <a:rPr lang="en-US" sz="2100" dirty="0">
                <a:solidFill>
                  <a:srgbClr val="B2B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for all broker connections in deployment.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981678" y="5280753"/>
            <a:ext cx="4305543" cy="28222"/>
          </a:xfrm>
          <a:prstGeom prst="rect">
            <a:avLst/>
          </a:prstGeom>
          <a:solidFill>
            <a:srgbClr val="0F919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5981678" y="5518438"/>
            <a:ext cx="473609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detection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981678" y="6055983"/>
            <a:ext cx="4434709" cy="1197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465"/>
              </a:lnSpc>
              <a:buNone/>
            </a:pPr>
            <a:r>
              <a:rPr lang="en-US" sz="2100" dirty="0">
                <a:solidFill>
                  <a:srgbClr val="B2B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twin publishes a retained offline marker if it drops. Implemented and verified.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049112" y="2926623"/>
            <a:ext cx="6095891" cy="5399816"/>
          </a:xfrm>
          <a:prstGeom prst="rect">
            <a:avLst/>
          </a:prstGeom>
          <a:solidFill>
            <a:srgbClr val="212D3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11506290" y="3345657"/>
            <a:ext cx="56996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1875" kern="0" spc="188" dirty="0">
                <a:solidFill>
                  <a:srgbClr val="E29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THREAT THAT MATTERS MOST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506290" y="3888493"/>
            <a:ext cx="5336980" cy="1318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429"/>
              </a:lnSpc>
              <a:buNone/>
            </a:pPr>
            <a:r>
              <a:rPr lang="en-US" sz="2400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forged maintenance recommendation is a fabricated instruction to an engineer.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506290" y="5378208"/>
            <a:ext cx="5336980" cy="1197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465"/>
              </a:lnSpc>
              <a:buNone/>
            </a:pPr>
            <a:r>
              <a:rPr lang="en-US" sz="2100" dirty="0">
                <a:solidFill>
                  <a:srgbClr val="B8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turns the system into an attack channel against staff — worse than any data loss it could suffer.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506290" y="6747538"/>
            <a:ext cx="5336980" cy="1197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465"/>
              </a:lnSpc>
              <a:buNone/>
            </a:pPr>
            <a:r>
              <a:rPr lang="en-US" sz="2100" dirty="0">
                <a:solidFill>
                  <a:srgbClr val="B8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exactly one identity may write one, and every recommendation is recorded with its source.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890" y="952390"/>
            <a:ext cx="17602324" cy="72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745"/>
              </a:lnSpc>
              <a:buNone/>
            </a:pPr>
            <a:r>
              <a:rPr lang="en-US" sz="4800" kern="0" spc="-72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safety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2890" y="1863659"/>
            <a:ext cx="17602324" cy="49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550" dirty="0">
                <a:solidFill>
                  <a:srgbClr val="64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limitation we can name, and how we manage it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2890" y="2850445"/>
            <a:ext cx="7620111" cy="28222"/>
          </a:xfrm>
          <a:prstGeom prst="rect">
            <a:avLst/>
          </a:prstGeom>
          <a:solidFill>
            <a:srgbClr val="C9673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142890" y="3126273"/>
            <a:ext cx="8382122" cy="3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9E44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FOUND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2890" y="3641218"/>
            <a:ext cx="7848714" cy="1695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250" dirty="0">
                <a:solidFill>
                  <a:srgbClr val="3C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trained on two failure mechanisms. Against a third — a refrigerant leak, a failing compressor — it has no basis for recognition. It would stay confident about what it knows and quiet about what it does not.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2890" y="5488782"/>
            <a:ext cx="8382122" cy="46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429"/>
              </a:lnSpc>
              <a:buNone/>
            </a:pPr>
            <a:r>
              <a:rPr lang="en-US" sz="22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failure mode is silence, not error.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4891" y="2850445"/>
            <a:ext cx="7620111" cy="28222"/>
          </a:xfrm>
          <a:prstGeom prst="rect">
            <a:avLst/>
          </a:prstGeom>
          <a:solidFill>
            <a:srgbClr val="0F919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9524891" y="3126273"/>
            <a:ext cx="8382122" cy="3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006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MANAGE IT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4891" y="3641218"/>
            <a:ext cx="7848714" cy="1695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250" dirty="0">
                <a:solidFill>
                  <a:srgbClr val="3C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is bounded and comes last, so the model’s silence cannot cause an action. The mitigation for wider deployment is a second, simpler model on raw sensor values running alongside the primary one, escalating when either fires – buying coverage on unfamiliar faults at the cost of precision on familiar ones.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12" y="6446376"/>
            <a:ext cx="8382122" cy="46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429"/>
              </a:lnSpc>
              <a:buNone/>
            </a:pPr>
            <a:r>
              <a:rPr lang="en-US" sz="22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as a limitation, not designed around.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42890" y="7807965"/>
            <a:ext cx="16002113" cy="9525"/>
          </a:xfrm>
          <a:prstGeom prst="rect">
            <a:avLst/>
          </a:prstGeom>
          <a:solidFill>
            <a:srgbClr val="D0D5D9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1142890" y="8310233"/>
            <a:ext cx="5476314" cy="412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42890" y="8779317"/>
            <a:ext cx="5127821" cy="78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839"/>
              </a:lnSpc>
              <a:buNone/>
            </a:pPr>
            <a:r>
              <a:rPr lang="en-US" sz="2025" dirty="0">
                <a:solidFill>
                  <a:srgbClr val="52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only. No autonomous control anywhere in the system.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6654712" y="8310233"/>
            <a:ext cx="5476314" cy="412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654712" y="8779317"/>
            <a:ext cx="5127821" cy="78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839"/>
              </a:lnSpc>
              <a:buNone/>
            </a:pPr>
            <a:r>
              <a:rPr lang="en-US" sz="2025" dirty="0">
                <a:solidFill>
                  <a:srgbClr val="52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alert carries its sensor evidence, its confidence, and the mechanism.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2166535" y="8310233"/>
            <a:ext cx="5476314" cy="412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limits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166535" y="8779317"/>
            <a:ext cx="5127821" cy="78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839"/>
              </a:lnSpc>
              <a:buNone/>
            </a:pPr>
            <a:r>
              <a:rPr lang="en-US" sz="2025" dirty="0">
                <a:solidFill>
                  <a:srgbClr val="52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figures come from simulation and are an upper bound, not a forecast.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890" y="952390"/>
            <a:ext cx="17602324" cy="72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745"/>
              </a:lnSpc>
              <a:buNone/>
            </a:pPr>
            <a:r>
              <a:rPr lang="en-US" sz="4800" kern="0" spc="-72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deployment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2890" y="1863659"/>
            <a:ext cx="17602324" cy="49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550" dirty="0">
                <a:solidFill>
                  <a:srgbClr val="64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buys the answer the next one needs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2890" y="3002801"/>
            <a:ext cx="2895644" cy="42333"/>
          </a:xfrm>
          <a:prstGeom prst="rect">
            <a:avLst/>
          </a:prstGeom>
          <a:solidFill>
            <a:srgbClr val="0F919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142890" y="3292740"/>
            <a:ext cx="3185209" cy="57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907"/>
              </a:lnSpc>
              <a:buNone/>
            </a:pPr>
            <a:r>
              <a:rPr lang="en-US" sz="4200" dirty="0">
                <a:solidFill>
                  <a:srgbClr val="0F91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142890" y="3978452"/>
            <a:ext cx="3185209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142890" y="4575308"/>
            <a:ext cx="2982514" cy="758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52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room, four twins, hardened broker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142890" y="6101822"/>
            <a:ext cx="2982514" cy="334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006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19424" y="3002801"/>
            <a:ext cx="2895755" cy="42333"/>
          </a:xfrm>
          <a:prstGeom prst="rect">
            <a:avLst/>
          </a:prstGeom>
          <a:solidFill>
            <a:srgbClr val="CDD1D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4419424" y="3292740"/>
            <a:ext cx="3185330" cy="57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907"/>
              </a:lnSpc>
              <a:buNone/>
            </a:pPr>
            <a:r>
              <a:rPr lang="en-US" sz="4200" dirty="0">
                <a:solidFill>
                  <a:srgbClr val="9F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419424" y="3978452"/>
            <a:ext cx="318533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419424" y="4575308"/>
            <a:ext cx="2982627" cy="758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52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CRAC, physical sensors, shadow mode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4419424" y="6101822"/>
            <a:ext cx="2982627" cy="334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187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STARTED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96069" y="3002801"/>
            <a:ext cx="2895644" cy="42333"/>
          </a:xfrm>
          <a:prstGeom prst="rect">
            <a:avLst/>
          </a:prstGeom>
          <a:solidFill>
            <a:srgbClr val="CDD1D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7696069" y="3292740"/>
            <a:ext cx="3185209" cy="57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907"/>
              </a:lnSpc>
              <a:buNone/>
            </a:pPr>
            <a:r>
              <a:rPr lang="en-US" sz="4200" dirty="0">
                <a:solidFill>
                  <a:srgbClr val="9F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7696069" y="3978452"/>
            <a:ext cx="3185209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room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7696069" y="4575308"/>
            <a:ext cx="2982514" cy="1118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52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CRACs, maintenance-system integration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7696069" y="6101822"/>
            <a:ext cx="2982514" cy="334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187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STARTED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972604" y="3002801"/>
            <a:ext cx="2895755" cy="42333"/>
          </a:xfrm>
          <a:prstGeom prst="rect">
            <a:avLst/>
          </a:prstGeom>
          <a:solidFill>
            <a:srgbClr val="CDD1D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10972604" y="3292740"/>
            <a:ext cx="3185330" cy="57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907"/>
              </a:lnSpc>
              <a:buNone/>
            </a:pPr>
            <a:r>
              <a:rPr lang="en-US" sz="4200" dirty="0">
                <a:solidFill>
                  <a:srgbClr val="9F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0972604" y="3978452"/>
            <a:ext cx="318533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Multi-room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0972604" y="4575308"/>
            <a:ext cx="2982627" cy="758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52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rooms, twelve CRACs, federation layer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0972604" y="6101822"/>
            <a:ext cx="2982627" cy="334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187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STARTED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249248" y="3002801"/>
            <a:ext cx="2895644" cy="42333"/>
          </a:xfrm>
          <a:prstGeom prst="rect">
            <a:avLst/>
          </a:prstGeom>
          <a:solidFill>
            <a:srgbClr val="CDD1D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14249248" y="3292740"/>
            <a:ext cx="3185209" cy="57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907"/>
              </a:lnSpc>
              <a:buNone/>
            </a:pPr>
            <a:r>
              <a:rPr lang="en-US" sz="4200" dirty="0">
                <a:solidFill>
                  <a:srgbClr val="9F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4249248" y="3978452"/>
            <a:ext cx="2982514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autonomy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4249248" y="5019808"/>
            <a:ext cx="2982514" cy="758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52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Setpoint ±1 °C and workload shift only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4249248" y="6101822"/>
            <a:ext cx="2982514" cy="334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187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STARTED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42890" y="8194147"/>
            <a:ext cx="14858892" cy="9525"/>
          </a:xfrm>
          <a:prstGeom prst="rect">
            <a:avLst/>
          </a:prstGeom>
          <a:solidFill>
            <a:srgbClr val="D0D5D9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1142890" y="8696502"/>
            <a:ext cx="15304659" cy="866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250" dirty="0">
                <a:solidFill>
                  <a:srgbClr val="47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comes last by evidence, not caution — automatic action is limited to changes whose worst outcome is a slightly warmer room.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890" y="952390"/>
            <a:ext cx="17602324" cy="72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745"/>
              </a:lnSpc>
              <a:buNone/>
            </a:pPr>
            <a:r>
              <a:rPr lang="en-US" sz="4800" kern="0" spc="-72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change this recommendation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2890" y="1863659"/>
            <a:ext cx="17602324" cy="49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550" dirty="0">
                <a:solidFill>
                  <a:srgbClr val="64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case that lists only upside is not a business case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2890" y="2888479"/>
            <a:ext cx="4978467" cy="35278"/>
          </a:xfrm>
          <a:prstGeom prst="rect">
            <a:avLst/>
          </a:prstGeom>
          <a:solidFill>
            <a:srgbClr val="C9673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142890" y="3152290"/>
            <a:ext cx="547631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43"/>
              </a:lnSpc>
              <a:buNone/>
            </a:pPr>
            <a:r>
              <a:rPr lang="en-US" sz="270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sensors are noisier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2890" y="3716073"/>
            <a:ext cx="5127821" cy="1640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017"/>
              </a:lnSpc>
              <a:buNone/>
            </a:pPr>
            <a:r>
              <a:rPr lang="en-US" sz="2175" dirty="0">
                <a:solidFill>
                  <a:srgbClr val="4C5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figures come from a simulator. Trend features are the most flattered by clean data, and they carry the predictive advantage.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6654712" y="2888479"/>
            <a:ext cx="4978467" cy="35278"/>
          </a:xfrm>
          <a:prstGeom prst="rect">
            <a:avLst/>
          </a:prstGeom>
          <a:solidFill>
            <a:srgbClr val="C9673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6654712" y="3152290"/>
            <a:ext cx="547631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43"/>
              </a:lnSpc>
              <a:buNone/>
            </a:pPr>
            <a:r>
              <a:rPr lang="en-US" sz="270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interval is wrong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654712" y="3716073"/>
            <a:ext cx="5127821" cy="1239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017"/>
              </a:lnSpc>
              <a:buNone/>
            </a:pPr>
            <a:r>
              <a:rPr lang="en-US" sz="2175" dirty="0">
                <a:solidFill>
                  <a:srgbClr val="4C5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Avoided downtime is half the benefit and rests on an interval no data here supports.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2166535" y="2888479"/>
            <a:ext cx="4978467" cy="35278"/>
          </a:xfrm>
          <a:prstGeom prst="rect">
            <a:avLst/>
          </a:prstGeom>
          <a:solidFill>
            <a:srgbClr val="C9673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12166535" y="3152290"/>
            <a:ext cx="547631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43"/>
              </a:lnSpc>
              <a:buNone/>
            </a:pPr>
            <a:r>
              <a:rPr lang="en-US" sz="2700" dirty="0">
                <a:solidFill>
                  <a:srgbClr val="1A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Faults are caught anyway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166535" y="3716073"/>
            <a:ext cx="5127821" cy="1239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017"/>
              </a:lnSpc>
              <a:buNone/>
            </a:pPr>
            <a:r>
              <a:rPr lang="en-US" sz="2175" dirty="0">
                <a:solidFill>
                  <a:srgbClr val="4C5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existing maintenance already catches these faults early, the energy benefit shrinks sharply.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1142890" y="7780074"/>
            <a:ext cx="16002113" cy="1744927"/>
          </a:xfrm>
          <a:prstGeom prst="rect">
            <a:avLst/>
          </a:prstGeom>
          <a:solidFill>
            <a:srgbClr val="18202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1676246" y="8465565"/>
            <a:ext cx="2933579" cy="412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225" dirty="0">
                <a:solidFill>
                  <a:srgbClr val="48B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876492" y="8199108"/>
            <a:ext cx="12087209" cy="94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550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the live pilot as a validation exercise — one CRAC unit in shadow mode, to learn whether the model survives real sensors before wider capital is committed.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AD2EB29-1FDA-45E1-804F-F552F8A86CE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04d1ae8-902b-44d0-bf35-754120082e9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1437</Words>
  <Application>Microsoft Office PowerPoint</Application>
  <PresentationFormat>Custom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 charles</cp:lastModifiedBy>
  <cp:revision>8</cp:revision>
  <dcterms:created xsi:type="dcterms:W3CDTF">2026-08-14T06:19:53Z</dcterms:created>
  <dcterms:modified xsi:type="dcterms:W3CDTF">2026-08-16T08:59:17Z</dcterms:modified>
</cp:coreProperties>
</file>